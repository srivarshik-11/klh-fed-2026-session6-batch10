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8" r:id="rId1"/>
  </p:sldMasterIdLst>
  <p:notesMasterIdLst>
    <p:notesMasterId r:id="rId12"/>
  </p:notes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0D46D1-AE1D-48DD-BFE4-DB20AFA9272B}" v="2" dt="2026-09-20T17:17:11.9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72" d="100"/>
          <a:sy n="72" d="100"/>
        </p:scale>
        <p:origin x="4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vishruth Goud" userId="6396ba5277332bde" providerId="LiveId" clId="{1E9BC606-475D-44B9-9B22-9C7AB782A499}"/>
    <pc:docChg chg="modSld">
      <pc:chgData name="D.vishruth Goud" userId="6396ba5277332bde" providerId="LiveId" clId="{1E9BC606-475D-44B9-9B22-9C7AB782A499}" dt="2026-09-20T17:17:58.722" v="10" actId="207"/>
      <pc:docMkLst>
        <pc:docMk/>
      </pc:docMkLst>
      <pc:sldChg chg="addSp delSp modSp mod">
        <pc:chgData name="D.vishruth Goud" userId="6396ba5277332bde" providerId="LiveId" clId="{1E9BC606-475D-44B9-9B22-9C7AB782A499}" dt="2026-09-20T17:17:34.571" v="8" actId="207"/>
        <pc:sldMkLst>
          <pc:docMk/>
          <pc:sldMk cId="0" sldId="258"/>
        </pc:sldMkLst>
        <pc:spChg chg="mod">
          <ac:chgData name="D.vishruth Goud" userId="6396ba5277332bde" providerId="LiveId" clId="{1E9BC606-475D-44B9-9B22-9C7AB782A499}" dt="2026-09-20T17:17:22.743" v="5" actId="207"/>
          <ac:spMkLst>
            <pc:docMk/>
            <pc:sldMk cId="0" sldId="258"/>
            <ac:spMk id="3" creationId="{00000000-0000-0000-0000-000000000000}"/>
          </ac:spMkLst>
        </pc:spChg>
        <pc:spChg chg="mod">
          <ac:chgData name="D.vishruth Goud" userId="6396ba5277332bde" providerId="LiveId" clId="{1E9BC606-475D-44B9-9B22-9C7AB782A499}" dt="2026-09-20T17:17:34.571" v="8" actId="207"/>
          <ac:spMkLst>
            <pc:docMk/>
            <pc:sldMk cId="0" sldId="258"/>
            <ac:spMk id="4" creationId="{00000000-0000-0000-0000-000000000000}"/>
          </ac:spMkLst>
        </pc:spChg>
        <pc:spChg chg="add del mod">
          <ac:chgData name="D.vishruth Goud" userId="6396ba5277332bde" providerId="LiveId" clId="{1E9BC606-475D-44B9-9B22-9C7AB782A499}" dt="2026-09-20T17:17:11.508" v="3"/>
          <ac:spMkLst>
            <pc:docMk/>
            <pc:sldMk cId="0" sldId="258"/>
            <ac:spMk id="13" creationId="{DBA08BEF-E82D-9AE5-37BF-36DCDFEC3AAF}"/>
          </ac:spMkLst>
        </pc:spChg>
        <pc:spChg chg="add del mod">
          <ac:chgData name="D.vishruth Goud" userId="6396ba5277332bde" providerId="LiveId" clId="{1E9BC606-475D-44B9-9B22-9C7AB782A499}" dt="2026-09-20T17:17:26.104" v="7"/>
          <ac:spMkLst>
            <pc:docMk/>
            <pc:sldMk cId="0" sldId="258"/>
            <ac:spMk id="14" creationId="{77F9E6D3-E49F-4842-3740-4C45DB02F8DC}"/>
          </ac:spMkLst>
        </pc:spChg>
      </pc:sldChg>
      <pc:sldChg chg="modSp mod">
        <pc:chgData name="D.vishruth Goud" userId="6396ba5277332bde" providerId="LiveId" clId="{1E9BC606-475D-44B9-9B22-9C7AB782A499}" dt="2026-09-20T17:17:58.722" v="10" actId="207"/>
        <pc:sldMkLst>
          <pc:docMk/>
          <pc:sldMk cId="0" sldId="259"/>
        </pc:sldMkLst>
        <pc:spChg chg="mod">
          <ac:chgData name="D.vishruth Goud" userId="6396ba5277332bde" providerId="LiveId" clId="{1E9BC606-475D-44B9-9B22-9C7AB782A499}" dt="2026-09-20T17:17:58.722" v="10" actId="207"/>
          <ac:spMkLst>
            <pc:docMk/>
            <pc:sldMk cId="0" sldId="259"/>
            <ac:spMk id="3" creationId="{00000000-0000-0000-0000-000000000000}"/>
          </ac:spMkLst>
        </pc:spChg>
        <pc:spChg chg="mod">
          <ac:chgData name="D.vishruth Goud" userId="6396ba5277332bde" providerId="LiveId" clId="{1E9BC606-475D-44B9-9B22-9C7AB782A499}" dt="2026-09-20T17:17:52.180" v="9" actId="207"/>
          <ac:spMkLst>
            <pc:docMk/>
            <pc:sldMk cId="0" sldId="25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5B9D0F-D0F0-4366-9DA5-A99D7BD86C41}" type="datetimeFigureOut">
              <a:rPr lang="en-IN" smtClean="0"/>
              <a:t>20-09-2026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0365C-2265-47DE-98AD-7D4591DAAA5A}" type="slidenum">
              <a:rPr lang="en-IN" smtClean="0"/>
              <a:t>‹#›</a:t>
            </a:fld>
            <a:endParaRPr lang="en-IN"/>
          </a:p>
        </p:txBody>
      </p:sp>
    </p:spTree>
    <p:extLst>
      <p:ext uri="{BB962C8B-B14F-4D97-AF65-F5344CB8AC3E}">
        <p14:creationId xmlns:p14="http://schemas.microsoft.com/office/powerpoint/2010/main" val="1542803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7655-F725-8A2B-A520-4551746AB77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94A1420-9A60-312C-4684-75FAAB3D42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63A64E-0AB5-0356-97B4-411A52555D29}"/>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5" name="Footer Placeholder 4">
            <a:extLst>
              <a:ext uri="{FF2B5EF4-FFF2-40B4-BE49-F238E27FC236}">
                <a16:creationId xmlns:a16="http://schemas.microsoft.com/office/drawing/2014/main" id="{8E6F18EB-23AD-30E5-A6B6-40027ACF8F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1C8BFF-E7DE-B8F7-4754-4878EFAB3337}"/>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815677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F31E0-97F4-9467-5F2D-B82939A0A90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166F2E9-92A5-8D72-EA6E-93740B119B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A24CD5-6F94-2C9C-F66F-6437C2CBC4D0}"/>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5" name="Footer Placeholder 4">
            <a:extLst>
              <a:ext uri="{FF2B5EF4-FFF2-40B4-BE49-F238E27FC236}">
                <a16:creationId xmlns:a16="http://schemas.microsoft.com/office/drawing/2014/main" id="{9957E47C-31BF-63C3-3EA2-DB93E0CF66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119370-8D78-9D0F-335C-6EE469392A33}"/>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038888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32110-B374-B0BC-D15C-AC4C55B86D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FFCAE86-BEEC-2790-2481-5BF3C9FD7A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611F41-C643-2307-AA1E-4E53EB58D403}"/>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5" name="Footer Placeholder 4">
            <a:extLst>
              <a:ext uri="{FF2B5EF4-FFF2-40B4-BE49-F238E27FC236}">
                <a16:creationId xmlns:a16="http://schemas.microsoft.com/office/drawing/2014/main" id="{694A87B9-A82E-AADA-104C-5929CDC103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B4163D-625D-47A6-EC01-6E36DFAD8687}"/>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14340580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E6113-DE74-E70B-0E79-44D2C1F5CF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AA0C2F-FED3-3BBF-06EA-5163145C1B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CF0D186-928C-4CFF-EECE-533026C761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AA2ADF1-1A71-69A9-A447-248EF57E0F51}"/>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6" name="Footer Placeholder 5">
            <a:extLst>
              <a:ext uri="{FF2B5EF4-FFF2-40B4-BE49-F238E27FC236}">
                <a16:creationId xmlns:a16="http://schemas.microsoft.com/office/drawing/2014/main" id="{A0B4B423-BD16-D904-9146-81B53CF277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6BFAA5-DF90-C2DB-F4C7-B393BE15010D}"/>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426975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4EF9E-A78A-10B1-9F1B-666891A56A0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D938CD-0586-1E49-7289-74826E6609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A0908D-19A9-AEA7-E9AF-A1A9F5BAFB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BA46C6-C744-ECD4-3B05-66551A6DA7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A8562A-A181-C83B-B8BF-79EE1DA841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019EE9-1C1E-D563-A1DC-E296A4EBD48F}"/>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8" name="Footer Placeholder 7">
            <a:extLst>
              <a:ext uri="{FF2B5EF4-FFF2-40B4-BE49-F238E27FC236}">
                <a16:creationId xmlns:a16="http://schemas.microsoft.com/office/drawing/2014/main" id="{FEDCFE71-4B01-4C0F-E079-986B1F426F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81932CC-57BF-73DF-BA0E-30125D1B44E1}"/>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426399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9F0B1-DE66-54CA-917B-53A1A2D5DCD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3E6C4E4-3420-13DE-B760-215E50809913}"/>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4" name="Footer Placeholder 3">
            <a:extLst>
              <a:ext uri="{FF2B5EF4-FFF2-40B4-BE49-F238E27FC236}">
                <a16:creationId xmlns:a16="http://schemas.microsoft.com/office/drawing/2014/main" id="{BE6AFD64-D9A2-A448-AD87-635E4A139C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8FF4391-53A5-FA11-692C-F669604D2326}"/>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640852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63D76E-5EBA-92E2-8D37-650D5E6F7FD8}"/>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3" name="Footer Placeholder 2">
            <a:extLst>
              <a:ext uri="{FF2B5EF4-FFF2-40B4-BE49-F238E27FC236}">
                <a16:creationId xmlns:a16="http://schemas.microsoft.com/office/drawing/2014/main" id="{C44056FE-2D85-B8D6-4563-7EF72BE694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4FD3ED-2FF7-114C-3AFB-FFE6219C0AAB}"/>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1365479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175FE-CC1C-0031-0632-C1385E1C0F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C78A42C-BA6C-A08B-922C-464D8E620F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838399E-5D66-1DAE-F7AB-2111213AE9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74ECA8-76B4-A612-8196-0E641F4599D7}"/>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6" name="Footer Placeholder 5">
            <a:extLst>
              <a:ext uri="{FF2B5EF4-FFF2-40B4-BE49-F238E27FC236}">
                <a16:creationId xmlns:a16="http://schemas.microsoft.com/office/drawing/2014/main" id="{E27CBF15-3CD6-A5D4-9596-329D5E9AF1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08B16E-9B2A-F7B0-A3E8-1679907D41F1}"/>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3111364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2A6F9-0774-C814-4250-6B5766C1D0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FBD2BF-2355-AFA4-6B80-D7B1299479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964F8B-0E7C-2A44-A41F-75D0E50A0D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88C27A-21AA-A33E-FC52-619CE95261B5}"/>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6" name="Footer Placeholder 5">
            <a:extLst>
              <a:ext uri="{FF2B5EF4-FFF2-40B4-BE49-F238E27FC236}">
                <a16:creationId xmlns:a16="http://schemas.microsoft.com/office/drawing/2014/main" id="{0D696CEA-88C4-AC0B-D677-1CBF8C27580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C6C05F-30FA-BDDF-2A2E-8B01BC429163}"/>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2467878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B2A3-580C-09A1-44BB-122A1FDCEB3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E166EF-AFDB-94C4-E2FC-553EE3FC4E5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85C138-5533-12D6-1AF5-840B53F8D998}"/>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5" name="Footer Placeholder 4">
            <a:extLst>
              <a:ext uri="{FF2B5EF4-FFF2-40B4-BE49-F238E27FC236}">
                <a16:creationId xmlns:a16="http://schemas.microsoft.com/office/drawing/2014/main" id="{B1684D85-3637-958E-8923-2DFDC1DC2C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C790B2-8499-AE1C-B76D-8366386711EB}"/>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234354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5656B7-CDB2-BE18-4363-5A2024AEAD7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A3982EB-283E-F87B-419D-3DE48D6A4F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DD28D5-F324-1CFE-D26E-909355E5B211}"/>
              </a:ext>
            </a:extLst>
          </p:cNvPr>
          <p:cNvSpPr>
            <a:spLocks noGrp="1"/>
          </p:cNvSpPr>
          <p:nvPr>
            <p:ph type="dt" sz="half" idx="10"/>
          </p:nvPr>
        </p:nvSpPr>
        <p:spPr/>
        <p:txBody>
          <a:bodyPr/>
          <a:lstStyle/>
          <a:p>
            <a:fld id="{38DF3150-4664-4CA8-9072-585193406490}" type="datetimeFigureOut">
              <a:rPr lang="en-IN" smtClean="0"/>
              <a:t>20-09-2026</a:t>
            </a:fld>
            <a:endParaRPr lang="en-IN"/>
          </a:p>
        </p:txBody>
      </p:sp>
      <p:sp>
        <p:nvSpPr>
          <p:cNvPr id="5" name="Footer Placeholder 4">
            <a:extLst>
              <a:ext uri="{FF2B5EF4-FFF2-40B4-BE49-F238E27FC236}">
                <a16:creationId xmlns:a16="http://schemas.microsoft.com/office/drawing/2014/main" id="{C0D8041F-58A1-8FE8-2EE5-068C27B4AC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3E2EF3-F583-DEC2-E58D-34DF8315AB7B}"/>
              </a:ext>
            </a:extLst>
          </p:cNvPr>
          <p:cNvSpPr>
            <a:spLocks noGrp="1"/>
          </p:cNvSpPr>
          <p:nvPr>
            <p:ph type="sldNum" sz="quarter" idx="12"/>
          </p:nvPr>
        </p:nvSpPr>
        <p:spPr/>
        <p:txBody>
          <a:bodyPr/>
          <a:lstStyle/>
          <a:p>
            <a:fld id="{35815758-D681-4CBF-ACDB-9F91EC289BA5}" type="slidenum">
              <a:rPr lang="en-IN" smtClean="0"/>
              <a:t>‹#›</a:t>
            </a:fld>
            <a:endParaRPr lang="en-IN"/>
          </a:p>
        </p:txBody>
      </p:sp>
    </p:spTree>
    <p:extLst>
      <p:ext uri="{BB962C8B-B14F-4D97-AF65-F5344CB8AC3E}">
        <p14:creationId xmlns:p14="http://schemas.microsoft.com/office/powerpoint/2010/main" val="1472038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612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51F584-6E25-7EF3-8561-09ADE6F043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5BE2223-2762-86EA-619A-999C4FC15D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F6F529-411D-4BA8-93A5-52F8F90CAB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DF3150-4664-4CA8-9072-585193406490}" type="datetimeFigureOut">
              <a:rPr lang="en-IN" smtClean="0"/>
              <a:t>20-09-2026</a:t>
            </a:fld>
            <a:endParaRPr lang="en-IN"/>
          </a:p>
        </p:txBody>
      </p:sp>
      <p:sp>
        <p:nvSpPr>
          <p:cNvPr id="5" name="Footer Placeholder 4">
            <a:extLst>
              <a:ext uri="{FF2B5EF4-FFF2-40B4-BE49-F238E27FC236}">
                <a16:creationId xmlns:a16="http://schemas.microsoft.com/office/drawing/2014/main" id="{028D0B26-FB23-9794-F8A9-EDB7B70C66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535CF0B-58A6-0D1D-6892-E2A9AE9043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815758-D681-4CBF-ACDB-9F91EC289BA5}" type="slidenum">
              <a:rPr lang="en-IN" smtClean="0"/>
              <a:t>‹#›</a:t>
            </a:fld>
            <a:endParaRPr lang="en-IN"/>
          </a:p>
        </p:txBody>
      </p:sp>
    </p:spTree>
    <p:extLst>
      <p:ext uri="{BB962C8B-B14F-4D97-AF65-F5344CB8AC3E}">
        <p14:creationId xmlns:p14="http://schemas.microsoft.com/office/powerpoint/2010/main" val="1912640659"/>
      </p:ext>
    </p:extLst>
  </p:cSld>
  <p:clrMap bg1="dk1" tx1="lt1" bg2="dk2" tx2="lt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308592" y="731520"/>
            <a:ext cx="1773936" cy="4206240"/>
          </a:xfrm>
          <a:prstGeom prst="roundRect">
            <a:avLst>
              <a:gd name="adj" fmla="val 25773"/>
            </a:avLst>
          </a:prstGeom>
          <a:solidFill>
            <a:srgbClr val="13243A"/>
          </a:solidFill>
          <a:ln w="12700">
            <a:solidFill>
              <a:srgbClr val="27405C"/>
            </a:solidFill>
            <a:prstDash val="solid"/>
          </a:ln>
        </p:spPr>
      </p:sp>
      <p:sp>
        <p:nvSpPr>
          <p:cNvPr id="3" name="Shape 1"/>
          <p:cNvSpPr/>
          <p:nvPr/>
        </p:nvSpPr>
        <p:spPr>
          <a:xfrm>
            <a:off x="9308592" y="731520"/>
            <a:ext cx="1773936" cy="4206240"/>
          </a:xfrm>
          <a:prstGeom prst="roundRect">
            <a:avLst>
              <a:gd name="adj" fmla="val 25773"/>
            </a:avLst>
          </a:prstGeom>
          <a:solidFill>
            <a:srgbClr val="13243A"/>
          </a:solidFill>
          <a:ln w="12700">
            <a:solidFill>
              <a:srgbClr val="27405C"/>
            </a:solidFill>
            <a:prstDash val="solid"/>
          </a:ln>
        </p:spPr>
      </p:sp>
      <p:sp>
        <p:nvSpPr>
          <p:cNvPr id="4" name="Shape 2"/>
          <p:cNvSpPr/>
          <p:nvPr/>
        </p:nvSpPr>
        <p:spPr>
          <a:xfrm>
            <a:off x="9308592" y="731520"/>
            <a:ext cx="1773936" cy="4206240"/>
          </a:xfrm>
          <a:prstGeom prst="roundRect">
            <a:avLst>
              <a:gd name="adj" fmla="val 25773"/>
            </a:avLst>
          </a:prstGeom>
          <a:solidFill>
            <a:srgbClr val="13243A"/>
          </a:solidFill>
          <a:ln w="12700">
            <a:solidFill>
              <a:srgbClr val="27405C"/>
            </a:solidFill>
            <a:prstDash val="solid"/>
          </a:ln>
        </p:spPr>
      </p:sp>
      <p:sp>
        <p:nvSpPr>
          <p:cNvPr id="5" name="Shape 3"/>
          <p:cNvSpPr/>
          <p:nvPr/>
        </p:nvSpPr>
        <p:spPr>
          <a:xfrm>
            <a:off x="9628632" y="667512"/>
            <a:ext cx="1133856" cy="1133856"/>
          </a:xfrm>
          <a:prstGeom prst="ellipse">
            <a:avLst/>
          </a:prstGeom>
          <a:solidFill>
            <a:srgbClr val="E15241"/>
          </a:solidFill>
          <a:ln/>
        </p:spPr>
      </p:sp>
      <p:sp>
        <p:nvSpPr>
          <p:cNvPr id="6" name="Shape 4"/>
          <p:cNvSpPr/>
          <p:nvPr/>
        </p:nvSpPr>
        <p:spPr>
          <a:xfrm>
            <a:off x="9628632" y="2084832"/>
            <a:ext cx="1133856" cy="1133856"/>
          </a:xfrm>
          <a:prstGeom prst="ellipse">
            <a:avLst/>
          </a:prstGeom>
          <a:solidFill>
            <a:srgbClr val="F4A300"/>
          </a:solidFill>
          <a:ln/>
        </p:spPr>
      </p:sp>
      <p:sp>
        <p:nvSpPr>
          <p:cNvPr id="7" name="Shape 5"/>
          <p:cNvSpPr/>
          <p:nvPr/>
        </p:nvSpPr>
        <p:spPr>
          <a:xfrm>
            <a:off x="9628632" y="3502152"/>
            <a:ext cx="1133856" cy="1133856"/>
          </a:xfrm>
          <a:prstGeom prst="ellipse">
            <a:avLst/>
          </a:prstGeom>
          <a:solidFill>
            <a:srgbClr val="2ECC71"/>
          </a:solidFill>
          <a:ln/>
        </p:spPr>
      </p:sp>
      <p:sp>
        <p:nvSpPr>
          <p:cNvPr id="8" name="Text 6"/>
          <p:cNvSpPr/>
          <p:nvPr/>
        </p:nvSpPr>
        <p:spPr>
          <a:xfrm>
            <a:off x="822960" y="1417320"/>
            <a:ext cx="64008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INTELLIGENT TRANSPORTATION SYSTEMS</a:t>
            </a:r>
            <a:endParaRPr lang="en-US" sz="1250" dirty="0"/>
          </a:p>
        </p:txBody>
      </p:sp>
      <p:sp>
        <p:nvSpPr>
          <p:cNvPr id="9" name="Text 7"/>
          <p:cNvSpPr/>
          <p:nvPr/>
        </p:nvSpPr>
        <p:spPr>
          <a:xfrm>
            <a:off x="777240" y="1691640"/>
            <a:ext cx="7863840" cy="192024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Intelligent Traffic</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Signal Controller</a:t>
            </a:r>
            <a:endParaRPr lang="en-US" sz="4400" dirty="0"/>
          </a:p>
        </p:txBody>
      </p:sp>
      <p:sp>
        <p:nvSpPr>
          <p:cNvPr id="10" name="Text 8"/>
          <p:cNvSpPr/>
          <p:nvPr/>
        </p:nvSpPr>
        <p:spPr>
          <a:xfrm>
            <a:off x="822960" y="3566160"/>
            <a:ext cx="7315200" cy="822960"/>
          </a:xfrm>
          <a:prstGeom prst="rect">
            <a:avLst/>
          </a:prstGeom>
          <a:noFill/>
          <a:ln/>
        </p:spPr>
        <p:txBody>
          <a:bodyPr wrap="square" lIns="0" tIns="0" rIns="0" bIns="0" rtlCol="0" anchor="ctr"/>
          <a:lstStyle/>
          <a:p>
            <a:pPr marL="0" indent="0">
              <a:lnSpc>
                <a:spcPct val="120000"/>
              </a:lnSpc>
              <a:buNone/>
            </a:pPr>
            <a:r>
              <a:rPr lang="en-US" sz="1600" i="1" dirty="0">
                <a:solidFill>
                  <a:srgbClr val="CADCFC"/>
                </a:solidFill>
                <a:latin typeface="Calibri" pitchFamily="34" charset="0"/>
                <a:ea typeface="Calibri" pitchFamily="34" charset="-122"/>
                <a:cs typeface="Calibri" pitchFamily="34" charset="-120"/>
              </a:rPr>
              <a:t>A Finite State Machine approach to adaptive, sensor-driven traffic management at road junctions</a:t>
            </a:r>
            <a:endParaRPr lang="en-US" sz="1600" dirty="0"/>
          </a:p>
        </p:txBody>
      </p:sp>
      <p:sp>
        <p:nvSpPr>
          <p:cNvPr id="11" name="Shape 9"/>
          <p:cNvSpPr/>
          <p:nvPr/>
        </p:nvSpPr>
        <p:spPr>
          <a:xfrm>
            <a:off x="822960" y="4617720"/>
            <a:ext cx="1188720" cy="0"/>
          </a:xfrm>
          <a:prstGeom prst="line">
            <a:avLst/>
          </a:prstGeom>
          <a:noFill/>
          <a:ln w="31750">
            <a:solidFill>
              <a:srgbClr val="F4A300"/>
            </a:solidFill>
            <a:prstDash val="solid"/>
          </a:ln>
        </p:spPr>
      </p:sp>
      <p:sp>
        <p:nvSpPr>
          <p:cNvPr id="12" name="Text 10"/>
          <p:cNvSpPr/>
          <p:nvPr/>
        </p:nvSpPr>
        <p:spPr>
          <a:xfrm>
            <a:off x="822960" y="4800600"/>
            <a:ext cx="6858000" cy="365760"/>
          </a:xfrm>
          <a:prstGeom prst="rect">
            <a:avLst/>
          </a:prstGeom>
          <a:noFill/>
          <a:ln/>
        </p:spPr>
        <p:txBody>
          <a:bodyPr wrap="square" lIns="0" tIns="0" rIns="0" bIns="0" rtlCol="0" anchor="ctr"/>
          <a:lstStyle/>
          <a:p>
            <a:pPr marL="0" indent="0">
              <a:buNone/>
            </a:pPr>
            <a:r>
              <a:rPr lang="en-US" sz="1250" dirty="0">
                <a:solidFill>
                  <a:srgbClr val="9FB3C8"/>
                </a:solidFill>
                <a:latin typeface="Calibri" pitchFamily="34" charset="0"/>
                <a:ea typeface="Calibri" pitchFamily="34" charset="-122"/>
                <a:cs typeface="Calibri" pitchFamily="34" charset="-120"/>
              </a:rPr>
              <a:t>Engineering Design Review   •   Digital Systems &amp; Embedded Control</a:t>
            </a:r>
            <a:endParaRPr lang="en-US" sz="1250" dirty="0"/>
          </a:p>
        </p:txBody>
      </p:sp>
      <p:sp>
        <p:nvSpPr>
          <p:cNvPr id="13" name="Text 11"/>
          <p:cNvSpPr/>
          <p:nvPr/>
        </p:nvSpPr>
        <p:spPr>
          <a:xfrm>
            <a:off x="822960" y="5349240"/>
            <a:ext cx="6858000" cy="256032"/>
          </a:xfrm>
          <a:prstGeom prst="rect">
            <a:avLst/>
          </a:prstGeom>
          <a:noFill/>
          <a:ln/>
        </p:spPr>
        <p:txBody>
          <a:bodyPr wrap="square" lIns="0" tIns="0" rIns="0" bIns="0" rtlCol="0" anchor="ctr"/>
          <a:lstStyle/>
          <a:p>
            <a:pPr marL="0" indent="0">
              <a:buNone/>
            </a:pPr>
            <a:r>
              <a:rPr lang="en-US" sz="1050" b="1" kern="0" spc="200" dirty="0">
                <a:solidFill>
                  <a:srgbClr val="F4A300"/>
                </a:solidFill>
                <a:latin typeface="Calibri" pitchFamily="34" charset="0"/>
                <a:ea typeface="Calibri" pitchFamily="34" charset="-122"/>
                <a:cs typeface="Calibri" pitchFamily="34" charset="-120"/>
              </a:rPr>
              <a:t>PRESENTED BY</a:t>
            </a:r>
            <a:endParaRPr lang="en-US" sz="1050" dirty="0"/>
          </a:p>
        </p:txBody>
      </p:sp>
      <p:sp>
        <p:nvSpPr>
          <p:cNvPr id="14" name="Text 12"/>
          <p:cNvSpPr/>
          <p:nvPr/>
        </p:nvSpPr>
        <p:spPr>
          <a:xfrm>
            <a:off x="838052" y="5532120"/>
            <a:ext cx="5486400" cy="1051560"/>
          </a:xfrm>
          <a:prstGeom prst="rect">
            <a:avLst/>
          </a:prstGeom>
          <a:noFill/>
          <a:ln/>
        </p:spPr>
        <p:txBody>
          <a:bodyPr wrap="square" lIns="0" tIns="0" rIns="0" bIns="0" rtlCol="0" anchor="ctr"/>
          <a:lstStyle/>
          <a:p>
            <a:pPr>
              <a:lnSpc>
                <a:spcPct val="110000"/>
              </a:lnSpc>
            </a:pPr>
            <a:r>
              <a:rPr lang="en-US" sz="1250" dirty="0">
                <a:solidFill>
                  <a:srgbClr val="FFFFFF"/>
                </a:solidFill>
                <a:latin typeface="Calibri" pitchFamily="34" charset="0"/>
                <a:ea typeface="Calibri" pitchFamily="34" charset="-122"/>
                <a:cs typeface="Calibri" pitchFamily="34" charset="-120"/>
              </a:rPr>
              <a:t>T. Navya</a:t>
            </a:r>
            <a:endParaRPr lang="en-US" sz="1250" dirty="0"/>
          </a:p>
          <a:p>
            <a:pPr>
              <a:lnSpc>
                <a:spcPct val="110000"/>
              </a:lnSpc>
            </a:pPr>
            <a:r>
              <a:rPr lang="en-US" sz="1250" dirty="0">
                <a:solidFill>
                  <a:srgbClr val="FFFFFF"/>
                </a:solidFill>
                <a:latin typeface="Calibri" pitchFamily="34" charset="0"/>
                <a:ea typeface="Calibri" pitchFamily="34" charset="-122"/>
                <a:cs typeface="Calibri" pitchFamily="34" charset="-120"/>
              </a:rPr>
              <a:t>M. Vyshali</a:t>
            </a:r>
          </a:p>
          <a:p>
            <a:pPr>
              <a:lnSpc>
                <a:spcPct val="110000"/>
              </a:lnSpc>
            </a:pPr>
            <a:r>
              <a:rPr lang="en-US" sz="1250" dirty="0">
                <a:solidFill>
                  <a:srgbClr val="FFFFFF"/>
                </a:solidFill>
                <a:latin typeface="Calibri" pitchFamily="34" charset="0"/>
                <a:ea typeface="Calibri" pitchFamily="34" charset="-122"/>
                <a:cs typeface="Calibri" pitchFamily="34" charset="-120"/>
              </a:rPr>
              <a:t>D. Vishruth Goud</a:t>
            </a:r>
            <a:endParaRPr lang="en-US" sz="1250" dirty="0"/>
          </a:p>
          <a:p>
            <a:pPr marL="0" indent="0">
              <a:lnSpc>
                <a:spcPct val="110000"/>
              </a:lnSpc>
              <a:buNone/>
            </a:pPr>
            <a:r>
              <a:rPr lang="en-US" sz="1250" dirty="0">
                <a:solidFill>
                  <a:srgbClr val="FFFFFF"/>
                </a:solidFill>
                <a:latin typeface="Calibri" pitchFamily="34" charset="0"/>
                <a:ea typeface="Calibri" pitchFamily="34" charset="-122"/>
                <a:cs typeface="Calibri" pitchFamily="34" charset="-120"/>
              </a:rPr>
              <a:t>K. Sri Varshik Reddy</a:t>
            </a:r>
            <a:endParaRPr lang="en-US" sz="1250" dirty="0"/>
          </a:p>
        </p:txBody>
      </p:sp>
      <p:sp>
        <p:nvSpPr>
          <p:cNvPr id="15" name="Text 13"/>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01</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945916" y="960120"/>
            <a:ext cx="9601200" cy="68580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Why Traffic Signals Need to Get Smarter</a:t>
            </a:r>
            <a:endParaRPr lang="en-US" sz="3000" dirty="0"/>
          </a:p>
        </p:txBody>
      </p:sp>
      <p:sp>
        <p:nvSpPr>
          <p:cNvPr id="4" name="Text 2"/>
          <p:cNvSpPr/>
          <p:nvPr/>
        </p:nvSpPr>
        <p:spPr>
          <a:xfrm>
            <a:off x="777240" y="1783080"/>
            <a:ext cx="6126480" cy="4206240"/>
          </a:xfrm>
          <a:prstGeom prst="rect">
            <a:avLst/>
          </a:prstGeom>
          <a:noFill/>
          <a:ln/>
        </p:spPr>
        <p:txBody>
          <a:bodyPr wrap="square" lIns="0" tIns="0" rIns="0" bIns="0" rtlCol="0" anchor="t"/>
          <a:lstStyle/>
          <a:p>
            <a:pPr marL="0" indent="0">
              <a:lnSpc>
                <a:spcPct val="135000"/>
              </a:lnSpc>
              <a:buNone/>
            </a:pPr>
            <a:r>
              <a:rPr lang="en-US" sz="1500" dirty="0">
                <a:latin typeface="Calibri" pitchFamily="34" charset="0"/>
                <a:ea typeface="Calibri" pitchFamily="34" charset="-122"/>
                <a:cs typeface="Calibri" pitchFamily="34" charset="-120"/>
              </a:rPr>
              <a:t>Urban traffic keeps growing, but most junctions are still run by </a:t>
            </a:r>
            <a:r>
              <a:rPr lang="en-US" sz="1500" b="1" dirty="0">
                <a:latin typeface="Calibri" pitchFamily="34" charset="0"/>
                <a:ea typeface="Calibri" pitchFamily="34" charset="-122"/>
                <a:cs typeface="Calibri" pitchFamily="34" charset="-120"/>
              </a:rPr>
              <a:t>fixed-time controllers</a:t>
            </a:r>
            <a:r>
              <a:rPr lang="en-US" sz="1500" dirty="0">
                <a:latin typeface="Calibri" pitchFamily="34" charset="0"/>
                <a:ea typeface="Calibri" pitchFamily="34" charset="-122"/>
                <a:cs typeface="Calibri" pitchFamily="34" charset="-120"/>
              </a:rPr>
              <a:t> that cycle through a rigid, pre-set sequence no matter how much traffic is actually present.
The result: green time is wasted on empty approaches while vehicles queue on busy ones. As city traffic volumes rise, that mismatch turns into real congestion, fuel waste, and driver frustration.
This project introduces a </a:t>
            </a:r>
            <a:r>
              <a:rPr lang="en-US" sz="1500" b="1" dirty="0">
                <a:latin typeface="Calibri" pitchFamily="34" charset="0"/>
                <a:ea typeface="Calibri" pitchFamily="34" charset="-122"/>
                <a:cs typeface="Calibri" pitchFamily="34" charset="-120"/>
              </a:rPr>
              <a:t>Finite State Machine (FSM)</a:t>
            </a:r>
            <a:r>
              <a:rPr lang="en-US" sz="1500" dirty="0">
                <a:latin typeface="Calibri" pitchFamily="34" charset="0"/>
                <a:ea typeface="Calibri" pitchFamily="34" charset="-122"/>
                <a:cs typeface="Calibri" pitchFamily="34" charset="-120"/>
              </a:rPr>
              <a:t> controller that reacts to live sensor data — bringing structure, safety, and adaptability to junction control.</a:t>
            </a:r>
            <a:endParaRPr lang="en-US" sz="1500" dirty="0"/>
          </a:p>
        </p:txBody>
      </p:sp>
      <p:sp>
        <p:nvSpPr>
          <p:cNvPr id="5" name="Shape 3"/>
          <p:cNvSpPr/>
          <p:nvPr/>
        </p:nvSpPr>
        <p:spPr>
          <a:xfrm>
            <a:off x="7360920" y="1783080"/>
            <a:ext cx="4023360" cy="4251960"/>
          </a:xfrm>
          <a:prstGeom prst="roundRect">
            <a:avLst>
              <a:gd name="adj" fmla="val 2727"/>
            </a:avLst>
          </a:prstGeom>
          <a:solidFill>
            <a:srgbClr val="0D1B2A"/>
          </a:solidFill>
          <a:ln/>
        </p:spPr>
      </p:sp>
      <p:sp>
        <p:nvSpPr>
          <p:cNvPr id="6" name="Shape 4"/>
          <p:cNvSpPr/>
          <p:nvPr/>
        </p:nvSpPr>
        <p:spPr>
          <a:xfrm>
            <a:off x="7726680" y="2148840"/>
            <a:ext cx="731520" cy="731520"/>
          </a:xfrm>
          <a:prstGeom prst="ellipse">
            <a:avLst/>
          </a:prstGeom>
          <a:solidFill>
            <a:srgbClr val="F4A300"/>
          </a:solidFill>
          <a:ln/>
        </p:spPr>
      </p:sp>
      <p:pic>
        <p:nvPicPr>
          <p:cNvPr id="7" name="Image 0" descr="/home/claude/icons/clock.png"/>
          <p:cNvPicPr>
            <a:picLocks noChangeAspect="1"/>
          </p:cNvPicPr>
          <p:nvPr/>
        </p:nvPicPr>
        <p:blipFill>
          <a:blip r:embed="rId3"/>
          <a:stretch>
            <a:fillRect/>
          </a:stretch>
        </p:blipFill>
        <p:spPr>
          <a:xfrm>
            <a:off x="7891272" y="2313432"/>
            <a:ext cx="402336" cy="402336"/>
          </a:xfrm>
          <a:prstGeom prst="rect">
            <a:avLst/>
          </a:prstGeom>
        </p:spPr>
      </p:pic>
      <p:sp>
        <p:nvSpPr>
          <p:cNvPr id="8" name="Text 5"/>
          <p:cNvSpPr/>
          <p:nvPr/>
        </p:nvSpPr>
        <p:spPr>
          <a:xfrm>
            <a:off x="7726680" y="3017520"/>
            <a:ext cx="329184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40%</a:t>
            </a:r>
            <a:endParaRPr lang="en-US" sz="4000" dirty="0"/>
          </a:p>
        </p:txBody>
      </p:sp>
      <p:sp>
        <p:nvSpPr>
          <p:cNvPr id="9" name="Text 6"/>
          <p:cNvSpPr/>
          <p:nvPr/>
        </p:nvSpPr>
        <p:spPr>
          <a:xfrm>
            <a:off x="7726680" y="3703320"/>
            <a:ext cx="3291840" cy="822960"/>
          </a:xfrm>
          <a:prstGeom prst="rect">
            <a:avLst/>
          </a:prstGeom>
          <a:noFill/>
          <a:ln/>
        </p:spPr>
        <p:txBody>
          <a:bodyPr wrap="square" lIns="0" tIns="0" rIns="0" bIns="0" rtlCol="0" anchor="ctr"/>
          <a:lstStyle/>
          <a:p>
            <a:pPr marL="0" indent="0">
              <a:lnSpc>
                <a:spcPct val="125000"/>
              </a:lnSpc>
              <a:buNone/>
            </a:pPr>
            <a:r>
              <a:rPr lang="en-US" sz="1250" dirty="0">
                <a:solidFill>
                  <a:srgbClr val="CADCFC"/>
                </a:solidFill>
                <a:latin typeface="Calibri" pitchFamily="34" charset="0"/>
                <a:ea typeface="Calibri" pitchFamily="34" charset="-122"/>
                <a:cs typeface="Calibri" pitchFamily="34" charset="-120"/>
              </a:rPr>
              <a:t>of urban commute time lost to congestion and avoidable idling at junctions</a:t>
            </a:r>
            <a:endParaRPr lang="en-US" sz="1250" dirty="0"/>
          </a:p>
        </p:txBody>
      </p:sp>
      <p:sp>
        <p:nvSpPr>
          <p:cNvPr id="10" name="Shape 7"/>
          <p:cNvSpPr/>
          <p:nvPr/>
        </p:nvSpPr>
        <p:spPr>
          <a:xfrm>
            <a:off x="7726680" y="4709160"/>
            <a:ext cx="3291840" cy="0"/>
          </a:xfrm>
          <a:prstGeom prst="line">
            <a:avLst/>
          </a:prstGeom>
          <a:noFill/>
          <a:ln w="12700">
            <a:solidFill>
              <a:srgbClr val="27405C"/>
            </a:solidFill>
            <a:prstDash val="solid"/>
          </a:ln>
        </p:spPr>
      </p:sp>
      <p:sp>
        <p:nvSpPr>
          <p:cNvPr id="11" name="Text 8"/>
          <p:cNvSpPr/>
          <p:nvPr/>
        </p:nvSpPr>
        <p:spPr>
          <a:xfrm>
            <a:off x="7726680" y="4892040"/>
            <a:ext cx="3291840" cy="1005840"/>
          </a:xfrm>
          <a:prstGeom prst="rect">
            <a:avLst/>
          </a:prstGeom>
          <a:noFill/>
          <a:ln/>
        </p:spPr>
        <p:txBody>
          <a:bodyPr wrap="square" lIns="0" tIns="0" rIns="0" bIns="0" rtlCol="0" anchor="ctr"/>
          <a:lstStyle/>
          <a:p>
            <a:pPr marL="0" indent="0">
              <a:lnSpc>
                <a:spcPct val="130000"/>
              </a:lnSpc>
              <a:buNone/>
            </a:pPr>
            <a:r>
              <a:rPr lang="en-US" sz="1250" i="1" dirty="0">
                <a:solidFill>
                  <a:srgbClr val="9FB3C8"/>
                </a:solidFill>
                <a:latin typeface="Calibri" pitchFamily="34" charset="0"/>
                <a:ea typeface="Calibri" pitchFamily="34" charset="-122"/>
                <a:cs typeface="Calibri" pitchFamily="34" charset="-120"/>
              </a:rPr>
              <a:t>Fixed cycle timings persist even when one approach sits empty and another is queued — a rigid model with no feedback.</a:t>
            </a:r>
            <a:endParaRPr lang="en-US" sz="1250" dirty="0"/>
          </a:p>
        </p:txBody>
      </p:sp>
      <p:sp>
        <p:nvSpPr>
          <p:cNvPr id="12" name="Text 9"/>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02</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DEFINITION</a:t>
            </a:r>
            <a:endParaRPr lang="en-US" sz="1250" dirty="0"/>
          </a:p>
        </p:txBody>
      </p:sp>
      <p:sp>
        <p:nvSpPr>
          <p:cNvPr id="3" name="Text 1"/>
          <p:cNvSpPr/>
          <p:nvPr/>
        </p:nvSpPr>
        <p:spPr>
          <a:xfrm>
            <a:off x="777240" y="822960"/>
            <a:ext cx="9601200" cy="685800"/>
          </a:xfrm>
          <a:prstGeom prst="rect">
            <a:avLst/>
          </a:prstGeom>
          <a:noFill/>
          <a:ln/>
        </p:spPr>
        <p:txBody>
          <a:bodyPr wrap="square" lIns="0" tIns="0" rIns="0" bIns="0" rtlCol="0" anchor="ctr"/>
          <a:lstStyle/>
          <a:p>
            <a:pPr marL="0" indent="0">
              <a:buNone/>
            </a:pPr>
            <a:r>
              <a:rPr lang="en-US" sz="3000" b="1" dirty="0">
                <a:latin typeface="Cambria" pitchFamily="34" charset="0"/>
                <a:ea typeface="Cambria" pitchFamily="34" charset="-122"/>
                <a:cs typeface="Cambria" pitchFamily="34" charset="-120"/>
              </a:rPr>
              <a:t>What Is a Finite State Machine?</a:t>
            </a:r>
            <a:endParaRPr lang="en-US" sz="3000" dirty="0"/>
          </a:p>
        </p:txBody>
      </p:sp>
      <p:sp>
        <p:nvSpPr>
          <p:cNvPr id="4" name="Text 2"/>
          <p:cNvSpPr/>
          <p:nvPr/>
        </p:nvSpPr>
        <p:spPr>
          <a:xfrm>
            <a:off x="777240" y="1691640"/>
            <a:ext cx="10607040" cy="914400"/>
          </a:xfrm>
          <a:prstGeom prst="rect">
            <a:avLst/>
          </a:prstGeom>
          <a:noFill/>
          <a:ln/>
        </p:spPr>
        <p:txBody>
          <a:bodyPr wrap="square" lIns="0" tIns="0" rIns="0" bIns="0" rtlCol="0" anchor="ctr"/>
          <a:lstStyle/>
          <a:p>
            <a:pPr marL="0" indent="0">
              <a:lnSpc>
                <a:spcPct val="130000"/>
              </a:lnSpc>
              <a:buNone/>
            </a:pPr>
            <a:r>
              <a:rPr lang="en-US" sz="1500" dirty="0">
                <a:latin typeface="Calibri" pitchFamily="34" charset="0"/>
                <a:ea typeface="Calibri" pitchFamily="34" charset="-122"/>
                <a:cs typeface="Calibri" pitchFamily="34" charset="-120"/>
              </a:rPr>
              <a:t>A Finite State Machine (FSM) is a computational model that exists in exactly one of a finite number of states at any moment. It moves — or transitions — from one state to another in response to inputs called events, and each transition can trigger an output action.</a:t>
            </a:r>
            <a:endParaRPr lang="en-US" sz="1500" dirty="0"/>
          </a:p>
        </p:txBody>
      </p:sp>
      <p:sp>
        <p:nvSpPr>
          <p:cNvPr id="5" name="Shape 3"/>
          <p:cNvSpPr/>
          <p:nvPr/>
        </p:nvSpPr>
        <p:spPr>
          <a:xfrm>
            <a:off x="777240" y="2880360"/>
            <a:ext cx="2487168" cy="2926080"/>
          </a:xfrm>
          <a:prstGeom prst="roundRect">
            <a:avLst>
              <a:gd name="adj" fmla="val 3676"/>
            </a:avLst>
          </a:prstGeom>
          <a:solidFill>
            <a:srgbClr val="F4F6F8"/>
          </a:solidFill>
          <a:ln w="12700">
            <a:solidFill>
              <a:srgbClr val="E1E6EA"/>
            </a:solidFill>
            <a:prstDash val="solid"/>
          </a:ln>
        </p:spPr>
      </p:sp>
      <p:sp>
        <p:nvSpPr>
          <p:cNvPr id="6" name="Shape 4"/>
          <p:cNvSpPr/>
          <p:nvPr/>
        </p:nvSpPr>
        <p:spPr>
          <a:xfrm>
            <a:off x="1097280" y="3200400"/>
            <a:ext cx="685800" cy="685800"/>
          </a:xfrm>
          <a:prstGeom prst="ellipse">
            <a:avLst/>
          </a:prstGeom>
          <a:solidFill>
            <a:srgbClr val="415A77"/>
          </a:solidFill>
          <a:ln/>
        </p:spPr>
      </p:sp>
      <p:pic>
        <p:nvPicPr>
          <p:cNvPr id="7" name="Image 0" descr="/home/claude/icons/circleDot.png"/>
          <p:cNvPicPr>
            <a:picLocks noChangeAspect="1"/>
          </p:cNvPicPr>
          <p:nvPr/>
        </p:nvPicPr>
        <p:blipFill>
          <a:blip r:embed="rId3"/>
          <a:stretch>
            <a:fillRect/>
          </a:stretch>
        </p:blipFill>
        <p:spPr>
          <a:xfrm>
            <a:off x="1268730" y="3371850"/>
            <a:ext cx="342900" cy="342900"/>
          </a:xfrm>
          <a:prstGeom prst="rect">
            <a:avLst/>
          </a:prstGeom>
        </p:spPr>
      </p:pic>
      <p:sp>
        <p:nvSpPr>
          <p:cNvPr id="8" name="Text 5"/>
          <p:cNvSpPr/>
          <p:nvPr/>
        </p:nvSpPr>
        <p:spPr>
          <a:xfrm>
            <a:off x="1051560" y="4069080"/>
            <a:ext cx="1938528"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State</a:t>
            </a:r>
            <a:endParaRPr lang="en-US" sz="1700" dirty="0"/>
          </a:p>
        </p:txBody>
      </p:sp>
      <p:sp>
        <p:nvSpPr>
          <p:cNvPr id="9" name="Text 6"/>
          <p:cNvSpPr/>
          <p:nvPr/>
        </p:nvSpPr>
        <p:spPr>
          <a:xfrm>
            <a:off x="1051560" y="4526280"/>
            <a:ext cx="1938528" cy="1143000"/>
          </a:xfrm>
          <a:prstGeom prst="rect">
            <a:avLst/>
          </a:prstGeom>
          <a:noFill/>
          <a:ln/>
        </p:spPr>
        <p:txBody>
          <a:bodyPr wrap="square" lIns="0" tIns="0" rIns="0" bIns="0" rtlCol="0" anchor="ctr"/>
          <a:lstStyle/>
          <a:p>
            <a:pPr marL="0" indent="0">
              <a:lnSpc>
                <a:spcPct val="125000"/>
              </a:lnSpc>
              <a:buNone/>
            </a:pPr>
            <a:r>
              <a:rPr lang="en-US" sz="1150" dirty="0">
                <a:solidFill>
                  <a:srgbClr val="6B7785"/>
                </a:solidFill>
                <a:latin typeface="Calibri" pitchFamily="34" charset="0"/>
                <a:ea typeface="Calibri" pitchFamily="34" charset="-122"/>
                <a:cs typeface="Calibri" pitchFamily="34" charset="-120"/>
              </a:rPr>
              <a:t>A distinct condition of the system — e.g. “North-South Green.”</a:t>
            </a:r>
            <a:endParaRPr lang="en-US" sz="1150" dirty="0"/>
          </a:p>
        </p:txBody>
      </p:sp>
      <p:sp>
        <p:nvSpPr>
          <p:cNvPr id="10" name="Shape 7"/>
          <p:cNvSpPr/>
          <p:nvPr/>
        </p:nvSpPr>
        <p:spPr>
          <a:xfrm>
            <a:off x="3483864" y="2880360"/>
            <a:ext cx="2487168" cy="2926080"/>
          </a:xfrm>
          <a:prstGeom prst="roundRect">
            <a:avLst>
              <a:gd name="adj" fmla="val 3676"/>
            </a:avLst>
          </a:prstGeom>
          <a:solidFill>
            <a:srgbClr val="F4F6F8"/>
          </a:solidFill>
          <a:ln w="12700">
            <a:solidFill>
              <a:srgbClr val="E1E6EA"/>
            </a:solidFill>
            <a:prstDash val="solid"/>
          </a:ln>
        </p:spPr>
      </p:sp>
      <p:sp>
        <p:nvSpPr>
          <p:cNvPr id="11" name="Shape 8"/>
          <p:cNvSpPr/>
          <p:nvPr/>
        </p:nvSpPr>
        <p:spPr>
          <a:xfrm>
            <a:off x="3803904" y="3200400"/>
            <a:ext cx="685800" cy="685800"/>
          </a:xfrm>
          <a:prstGeom prst="ellipse">
            <a:avLst/>
          </a:prstGeom>
          <a:solidFill>
            <a:srgbClr val="415A77"/>
          </a:solidFill>
          <a:ln/>
        </p:spPr>
      </p:sp>
      <p:pic>
        <p:nvPicPr>
          <p:cNvPr id="12" name="Image 1" descr="/home/claude/icons/bolt.png"/>
          <p:cNvPicPr>
            <a:picLocks noChangeAspect="1"/>
          </p:cNvPicPr>
          <p:nvPr/>
        </p:nvPicPr>
        <p:blipFill>
          <a:blip r:embed="rId4"/>
          <a:stretch>
            <a:fillRect/>
          </a:stretch>
        </p:blipFill>
        <p:spPr>
          <a:xfrm>
            <a:off x="3975354" y="3371850"/>
            <a:ext cx="342900" cy="342900"/>
          </a:xfrm>
          <a:prstGeom prst="rect">
            <a:avLst/>
          </a:prstGeom>
        </p:spPr>
      </p:pic>
      <p:sp>
        <p:nvSpPr>
          <p:cNvPr id="13" name="Text 9"/>
          <p:cNvSpPr/>
          <p:nvPr/>
        </p:nvSpPr>
        <p:spPr>
          <a:xfrm>
            <a:off x="3758184" y="4069080"/>
            <a:ext cx="1938528"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Event</a:t>
            </a:r>
            <a:endParaRPr lang="en-US" sz="1700" dirty="0"/>
          </a:p>
        </p:txBody>
      </p:sp>
      <p:sp>
        <p:nvSpPr>
          <p:cNvPr id="14" name="Text 10"/>
          <p:cNvSpPr/>
          <p:nvPr/>
        </p:nvSpPr>
        <p:spPr>
          <a:xfrm>
            <a:off x="3758184" y="4526280"/>
            <a:ext cx="1938528" cy="1143000"/>
          </a:xfrm>
          <a:prstGeom prst="rect">
            <a:avLst/>
          </a:prstGeom>
          <a:noFill/>
          <a:ln/>
        </p:spPr>
        <p:txBody>
          <a:bodyPr wrap="square" lIns="0" tIns="0" rIns="0" bIns="0" rtlCol="0" anchor="ctr"/>
          <a:lstStyle/>
          <a:p>
            <a:pPr marL="0" indent="0">
              <a:lnSpc>
                <a:spcPct val="125000"/>
              </a:lnSpc>
              <a:buNone/>
            </a:pPr>
            <a:r>
              <a:rPr lang="en-US" sz="1150" dirty="0">
                <a:solidFill>
                  <a:srgbClr val="6B7785"/>
                </a:solidFill>
                <a:latin typeface="Calibri" pitchFamily="34" charset="0"/>
                <a:ea typeface="Calibri" pitchFamily="34" charset="-122"/>
                <a:cs typeface="Calibri" pitchFamily="34" charset="-120"/>
              </a:rPr>
              <a:t>An input that triggers change — a timer expiry or a sensor reading.</a:t>
            </a:r>
            <a:endParaRPr lang="en-US" sz="1150" dirty="0"/>
          </a:p>
        </p:txBody>
      </p:sp>
      <p:sp>
        <p:nvSpPr>
          <p:cNvPr id="15" name="Shape 11"/>
          <p:cNvSpPr/>
          <p:nvPr/>
        </p:nvSpPr>
        <p:spPr>
          <a:xfrm>
            <a:off x="6190488" y="2880360"/>
            <a:ext cx="2487168" cy="2926080"/>
          </a:xfrm>
          <a:prstGeom prst="roundRect">
            <a:avLst>
              <a:gd name="adj" fmla="val 3676"/>
            </a:avLst>
          </a:prstGeom>
          <a:solidFill>
            <a:srgbClr val="F4F6F8"/>
          </a:solidFill>
          <a:ln w="12700">
            <a:solidFill>
              <a:srgbClr val="E1E6EA"/>
            </a:solidFill>
            <a:prstDash val="solid"/>
          </a:ln>
        </p:spPr>
      </p:sp>
      <p:sp>
        <p:nvSpPr>
          <p:cNvPr id="16" name="Shape 12"/>
          <p:cNvSpPr/>
          <p:nvPr/>
        </p:nvSpPr>
        <p:spPr>
          <a:xfrm>
            <a:off x="6510528" y="3200400"/>
            <a:ext cx="685800" cy="685800"/>
          </a:xfrm>
          <a:prstGeom prst="ellipse">
            <a:avLst/>
          </a:prstGeom>
          <a:solidFill>
            <a:srgbClr val="415A77"/>
          </a:solidFill>
          <a:ln/>
        </p:spPr>
      </p:sp>
      <p:pic>
        <p:nvPicPr>
          <p:cNvPr id="17" name="Image 2" descr="/home/claude/icons/arrowsSplit.png"/>
          <p:cNvPicPr>
            <a:picLocks noChangeAspect="1"/>
          </p:cNvPicPr>
          <p:nvPr/>
        </p:nvPicPr>
        <p:blipFill>
          <a:blip r:embed="rId5"/>
          <a:stretch>
            <a:fillRect/>
          </a:stretch>
        </p:blipFill>
        <p:spPr>
          <a:xfrm>
            <a:off x="6681978" y="3371850"/>
            <a:ext cx="342900" cy="342900"/>
          </a:xfrm>
          <a:prstGeom prst="rect">
            <a:avLst/>
          </a:prstGeom>
        </p:spPr>
      </p:pic>
      <p:sp>
        <p:nvSpPr>
          <p:cNvPr id="18" name="Text 13"/>
          <p:cNvSpPr/>
          <p:nvPr/>
        </p:nvSpPr>
        <p:spPr>
          <a:xfrm>
            <a:off x="6464808" y="4069080"/>
            <a:ext cx="1938528"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Transition</a:t>
            </a:r>
            <a:endParaRPr lang="en-US" sz="1700" dirty="0"/>
          </a:p>
        </p:txBody>
      </p:sp>
      <p:sp>
        <p:nvSpPr>
          <p:cNvPr id="19" name="Text 14"/>
          <p:cNvSpPr/>
          <p:nvPr/>
        </p:nvSpPr>
        <p:spPr>
          <a:xfrm>
            <a:off x="6464808" y="4526280"/>
            <a:ext cx="1938528" cy="1143000"/>
          </a:xfrm>
          <a:prstGeom prst="rect">
            <a:avLst/>
          </a:prstGeom>
          <a:noFill/>
          <a:ln/>
        </p:spPr>
        <p:txBody>
          <a:bodyPr wrap="square" lIns="0" tIns="0" rIns="0" bIns="0" rtlCol="0" anchor="ctr"/>
          <a:lstStyle/>
          <a:p>
            <a:pPr marL="0" indent="0">
              <a:lnSpc>
                <a:spcPct val="125000"/>
              </a:lnSpc>
              <a:buNone/>
            </a:pPr>
            <a:r>
              <a:rPr lang="en-US" sz="1150" dirty="0">
                <a:solidFill>
                  <a:srgbClr val="6B7785"/>
                </a:solidFill>
                <a:latin typeface="Calibri" pitchFamily="34" charset="0"/>
                <a:ea typeface="Calibri" pitchFamily="34" charset="-122"/>
                <a:cs typeface="Calibri" pitchFamily="34" charset="-120"/>
              </a:rPr>
              <a:t>The move from one state to another, caused by an event.</a:t>
            </a:r>
            <a:endParaRPr lang="en-US" sz="1150" dirty="0"/>
          </a:p>
        </p:txBody>
      </p:sp>
      <p:sp>
        <p:nvSpPr>
          <p:cNvPr id="20" name="Shape 15"/>
          <p:cNvSpPr/>
          <p:nvPr/>
        </p:nvSpPr>
        <p:spPr>
          <a:xfrm>
            <a:off x="8897112" y="2880360"/>
            <a:ext cx="2487168" cy="2926080"/>
          </a:xfrm>
          <a:prstGeom prst="roundRect">
            <a:avLst>
              <a:gd name="adj" fmla="val 3676"/>
            </a:avLst>
          </a:prstGeom>
          <a:solidFill>
            <a:srgbClr val="F4F6F8"/>
          </a:solidFill>
          <a:ln w="12700">
            <a:solidFill>
              <a:srgbClr val="E1E6EA"/>
            </a:solidFill>
            <a:prstDash val="solid"/>
          </a:ln>
        </p:spPr>
      </p:sp>
      <p:sp>
        <p:nvSpPr>
          <p:cNvPr id="21" name="Shape 16"/>
          <p:cNvSpPr/>
          <p:nvPr/>
        </p:nvSpPr>
        <p:spPr>
          <a:xfrm>
            <a:off x="9217152" y="3200400"/>
            <a:ext cx="685800" cy="685800"/>
          </a:xfrm>
          <a:prstGeom prst="ellipse">
            <a:avLst/>
          </a:prstGeom>
          <a:solidFill>
            <a:srgbClr val="415A77"/>
          </a:solidFill>
          <a:ln/>
        </p:spPr>
      </p:sp>
      <p:pic>
        <p:nvPicPr>
          <p:cNvPr id="22" name="Image 3" descr="/home/claude/icons/gaugeHigh.png"/>
          <p:cNvPicPr>
            <a:picLocks noChangeAspect="1"/>
          </p:cNvPicPr>
          <p:nvPr/>
        </p:nvPicPr>
        <p:blipFill>
          <a:blip r:embed="rId6"/>
          <a:stretch>
            <a:fillRect/>
          </a:stretch>
        </p:blipFill>
        <p:spPr>
          <a:xfrm>
            <a:off x="9388602" y="3371850"/>
            <a:ext cx="342900" cy="342900"/>
          </a:xfrm>
          <a:prstGeom prst="rect">
            <a:avLst/>
          </a:prstGeom>
        </p:spPr>
      </p:pic>
      <p:sp>
        <p:nvSpPr>
          <p:cNvPr id="23" name="Text 17"/>
          <p:cNvSpPr/>
          <p:nvPr/>
        </p:nvSpPr>
        <p:spPr>
          <a:xfrm>
            <a:off x="9171432" y="4069080"/>
            <a:ext cx="1938528" cy="411480"/>
          </a:xfrm>
          <a:prstGeom prst="rect">
            <a:avLst/>
          </a:prstGeom>
          <a:noFill/>
          <a:ln/>
        </p:spPr>
        <p:txBody>
          <a:bodyPr wrap="square" lIns="0" tIns="0" rIns="0" bIns="0" rtlCol="0" anchor="ctr"/>
          <a:lstStyle/>
          <a:p>
            <a:pPr marL="0" indent="0">
              <a:buNone/>
            </a:pPr>
            <a:r>
              <a:rPr lang="en-US" sz="1700" b="1" dirty="0">
                <a:solidFill>
                  <a:srgbClr val="1B2430"/>
                </a:solidFill>
                <a:latin typeface="Cambria" pitchFamily="34" charset="0"/>
                <a:ea typeface="Cambria" pitchFamily="34" charset="-122"/>
                <a:cs typeface="Cambria" pitchFamily="34" charset="-120"/>
              </a:rPr>
              <a:t>Action</a:t>
            </a:r>
            <a:endParaRPr lang="en-US" sz="1700" dirty="0"/>
          </a:p>
        </p:txBody>
      </p:sp>
      <p:sp>
        <p:nvSpPr>
          <p:cNvPr id="24" name="Text 18"/>
          <p:cNvSpPr/>
          <p:nvPr/>
        </p:nvSpPr>
        <p:spPr>
          <a:xfrm>
            <a:off x="9171432" y="4526280"/>
            <a:ext cx="1938528" cy="1143000"/>
          </a:xfrm>
          <a:prstGeom prst="rect">
            <a:avLst/>
          </a:prstGeom>
          <a:noFill/>
          <a:ln/>
        </p:spPr>
        <p:txBody>
          <a:bodyPr wrap="square" lIns="0" tIns="0" rIns="0" bIns="0" rtlCol="0" anchor="ctr"/>
          <a:lstStyle/>
          <a:p>
            <a:pPr marL="0" indent="0">
              <a:lnSpc>
                <a:spcPct val="125000"/>
              </a:lnSpc>
              <a:buNone/>
            </a:pPr>
            <a:r>
              <a:rPr lang="en-US" sz="1150" dirty="0">
                <a:solidFill>
                  <a:srgbClr val="6B7785"/>
                </a:solidFill>
                <a:latin typeface="Calibri" pitchFamily="34" charset="0"/>
                <a:ea typeface="Calibri" pitchFamily="34" charset="-122"/>
                <a:cs typeface="Calibri" pitchFamily="34" charset="-120"/>
              </a:rPr>
              <a:t>An output on entering or leaving a state — e.g. switch a lamp.</a:t>
            </a:r>
            <a:endParaRPr lang="en-US" sz="1150" dirty="0"/>
          </a:p>
        </p:txBody>
      </p:sp>
      <p:sp>
        <p:nvSpPr>
          <p:cNvPr id="25" name="Text 19"/>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03</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ABSTRACT</a:t>
            </a:r>
            <a:endParaRPr lang="en-US" sz="1250" dirty="0"/>
          </a:p>
        </p:txBody>
      </p:sp>
      <p:sp>
        <p:nvSpPr>
          <p:cNvPr id="3" name="Text 1"/>
          <p:cNvSpPr/>
          <p:nvPr/>
        </p:nvSpPr>
        <p:spPr>
          <a:xfrm>
            <a:off x="777240" y="822960"/>
            <a:ext cx="9601200" cy="68580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Project Abstract</a:t>
            </a:r>
            <a:endParaRPr lang="en-US" sz="3000" dirty="0"/>
          </a:p>
        </p:txBody>
      </p:sp>
      <p:sp>
        <p:nvSpPr>
          <p:cNvPr id="4" name="Shape 2"/>
          <p:cNvSpPr/>
          <p:nvPr/>
        </p:nvSpPr>
        <p:spPr>
          <a:xfrm>
            <a:off x="777240" y="1783080"/>
            <a:ext cx="6400800" cy="4251960"/>
          </a:xfrm>
          <a:prstGeom prst="roundRect">
            <a:avLst>
              <a:gd name="adj" fmla="val 2581"/>
            </a:avLst>
          </a:prstGeom>
          <a:solidFill>
            <a:srgbClr val="F4F6F8"/>
          </a:solidFill>
          <a:ln w="12700">
            <a:solidFill>
              <a:srgbClr val="E1E6EA"/>
            </a:solidFill>
            <a:prstDash val="solid"/>
          </a:ln>
        </p:spPr>
      </p:sp>
      <p:sp>
        <p:nvSpPr>
          <p:cNvPr id="5" name="Text 3"/>
          <p:cNvSpPr/>
          <p:nvPr/>
        </p:nvSpPr>
        <p:spPr>
          <a:xfrm>
            <a:off x="1097280" y="2011680"/>
            <a:ext cx="5806440" cy="3840480"/>
          </a:xfrm>
          <a:prstGeom prst="rect">
            <a:avLst/>
          </a:prstGeom>
          <a:noFill/>
          <a:ln/>
        </p:spPr>
        <p:txBody>
          <a:bodyPr wrap="square" lIns="0" tIns="0" rIns="0" bIns="0" rtlCol="0" anchor="t"/>
          <a:lstStyle/>
          <a:p>
            <a:pPr marL="0" indent="0">
              <a:lnSpc>
                <a:spcPct val="135000"/>
              </a:lnSpc>
              <a:buNone/>
            </a:pPr>
            <a:r>
              <a:rPr lang="en-US" sz="1400" dirty="0">
                <a:solidFill>
                  <a:srgbClr val="1B2430"/>
                </a:solidFill>
                <a:latin typeface="Calibri" pitchFamily="34" charset="0"/>
                <a:ea typeface="Calibri" pitchFamily="34" charset="-122"/>
                <a:cs typeface="Calibri" pitchFamily="34" charset="-120"/>
              </a:rPr>
              <a:t>This project models an intelligent traffic signal controller as a Finite State Machine, representing every junction phase — green, yellow, and all-red — as a discrete, verifiable state.
Real-time vehicle-density data from per-lane sensors drives state transitions in place of a fixed clock, letting green time stretch or shrink with actual demand while hard safety bounds and mandatory clearance intervals are always enforced.
A cycle-by-cycle simulation compares the adaptive FSM controller against a conventional fixed-time baseline on identical traffic demand, quantifying the reduction in average vehicle delay.</a:t>
            </a:r>
            <a:endParaRPr lang="en-US" sz="1400" dirty="0"/>
          </a:p>
        </p:txBody>
      </p:sp>
      <p:sp>
        <p:nvSpPr>
          <p:cNvPr id="6" name="Shape 4"/>
          <p:cNvSpPr/>
          <p:nvPr/>
        </p:nvSpPr>
        <p:spPr>
          <a:xfrm>
            <a:off x="7406640" y="1783080"/>
            <a:ext cx="3977640" cy="1234440"/>
          </a:xfrm>
          <a:prstGeom prst="roundRect">
            <a:avLst>
              <a:gd name="adj" fmla="val 7407"/>
            </a:avLst>
          </a:prstGeom>
          <a:solidFill>
            <a:srgbClr val="0D1B2A"/>
          </a:solidFill>
          <a:ln/>
        </p:spPr>
      </p:sp>
      <p:sp>
        <p:nvSpPr>
          <p:cNvPr id="7" name="Text 5"/>
          <p:cNvSpPr/>
          <p:nvPr/>
        </p:nvSpPr>
        <p:spPr>
          <a:xfrm>
            <a:off x="7680960" y="1901952"/>
            <a:ext cx="1554480" cy="1005840"/>
          </a:xfrm>
          <a:prstGeom prst="rect">
            <a:avLst/>
          </a:prstGeom>
          <a:noFill/>
          <a:ln/>
        </p:spPr>
        <p:txBody>
          <a:bodyPr wrap="square" lIns="0" tIns="0" rIns="0" bIns="0" rtlCol="0" anchor="ctr"/>
          <a:lstStyle/>
          <a:p>
            <a:pPr marL="0" indent="0">
              <a:buNone/>
            </a:pPr>
            <a:r>
              <a:rPr lang="en-US" sz="3000" b="1" dirty="0">
                <a:solidFill>
                  <a:srgbClr val="2ECC71"/>
                </a:solidFill>
                <a:latin typeface="Cambria" pitchFamily="34" charset="0"/>
                <a:ea typeface="Cambria" pitchFamily="34" charset="-122"/>
                <a:cs typeface="Cambria" pitchFamily="34" charset="-120"/>
              </a:rPr>
              <a:t>-41%</a:t>
            </a:r>
            <a:endParaRPr lang="en-US" sz="3000" dirty="0"/>
          </a:p>
        </p:txBody>
      </p:sp>
      <p:sp>
        <p:nvSpPr>
          <p:cNvPr id="8" name="Text 6"/>
          <p:cNvSpPr/>
          <p:nvPr/>
        </p:nvSpPr>
        <p:spPr>
          <a:xfrm>
            <a:off x="9098280" y="1901952"/>
            <a:ext cx="2148840" cy="100584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average delay reduction across all traffic profiles</a:t>
            </a:r>
            <a:endParaRPr lang="en-US" sz="1100" dirty="0"/>
          </a:p>
        </p:txBody>
      </p:sp>
      <p:sp>
        <p:nvSpPr>
          <p:cNvPr id="9" name="Shape 7"/>
          <p:cNvSpPr/>
          <p:nvPr/>
        </p:nvSpPr>
        <p:spPr>
          <a:xfrm>
            <a:off x="7406640" y="3154680"/>
            <a:ext cx="3977640" cy="1234440"/>
          </a:xfrm>
          <a:prstGeom prst="roundRect">
            <a:avLst>
              <a:gd name="adj" fmla="val 7407"/>
            </a:avLst>
          </a:prstGeom>
          <a:solidFill>
            <a:srgbClr val="0D1B2A"/>
          </a:solidFill>
          <a:ln/>
        </p:spPr>
      </p:sp>
      <p:sp>
        <p:nvSpPr>
          <p:cNvPr id="10" name="Text 8"/>
          <p:cNvSpPr/>
          <p:nvPr/>
        </p:nvSpPr>
        <p:spPr>
          <a:xfrm>
            <a:off x="7680960" y="3273552"/>
            <a:ext cx="1554480" cy="1005840"/>
          </a:xfrm>
          <a:prstGeom prst="rect">
            <a:avLst/>
          </a:prstGeom>
          <a:noFill/>
          <a:ln/>
        </p:spPr>
        <p:txBody>
          <a:bodyPr wrap="square" lIns="0" tIns="0" rIns="0" bIns="0" rtlCol="0" anchor="ctr"/>
          <a:lstStyle/>
          <a:p>
            <a:pPr marL="0" indent="0">
              <a:buNone/>
            </a:pPr>
            <a:r>
              <a:rPr lang="en-US" sz="3000" b="1" dirty="0">
                <a:solidFill>
                  <a:srgbClr val="F4A300"/>
                </a:solidFill>
                <a:latin typeface="Cambria" pitchFamily="34" charset="0"/>
                <a:ea typeface="Cambria" pitchFamily="34" charset="-122"/>
                <a:cs typeface="Cambria" pitchFamily="34" charset="-120"/>
              </a:rPr>
              <a:t>-43%</a:t>
            </a:r>
            <a:endParaRPr lang="en-US" sz="3000" dirty="0"/>
          </a:p>
        </p:txBody>
      </p:sp>
      <p:sp>
        <p:nvSpPr>
          <p:cNvPr id="11" name="Text 9"/>
          <p:cNvSpPr/>
          <p:nvPr/>
        </p:nvSpPr>
        <p:spPr>
          <a:xfrm>
            <a:off x="9098280" y="3273552"/>
            <a:ext cx="2148840" cy="100584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improvement measured during peak-hour congestion</a:t>
            </a:r>
            <a:endParaRPr lang="en-US" sz="1100" dirty="0"/>
          </a:p>
        </p:txBody>
      </p:sp>
      <p:sp>
        <p:nvSpPr>
          <p:cNvPr id="12" name="Shape 10"/>
          <p:cNvSpPr/>
          <p:nvPr/>
        </p:nvSpPr>
        <p:spPr>
          <a:xfrm>
            <a:off x="7406640" y="4526280"/>
            <a:ext cx="3977640" cy="1234440"/>
          </a:xfrm>
          <a:prstGeom prst="roundRect">
            <a:avLst>
              <a:gd name="adj" fmla="val 7407"/>
            </a:avLst>
          </a:prstGeom>
          <a:solidFill>
            <a:srgbClr val="0D1B2A"/>
          </a:solidFill>
          <a:ln/>
        </p:spPr>
      </p:sp>
      <p:sp>
        <p:nvSpPr>
          <p:cNvPr id="13" name="Text 11"/>
          <p:cNvSpPr/>
          <p:nvPr/>
        </p:nvSpPr>
        <p:spPr>
          <a:xfrm>
            <a:off x="7680960" y="4645152"/>
            <a:ext cx="1554480" cy="10058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0</a:t>
            </a:r>
            <a:endParaRPr lang="en-US" sz="3000" dirty="0"/>
          </a:p>
        </p:txBody>
      </p:sp>
      <p:sp>
        <p:nvSpPr>
          <p:cNvPr id="14" name="Text 12"/>
          <p:cNvSpPr/>
          <p:nvPr/>
        </p:nvSpPr>
        <p:spPr>
          <a:xfrm>
            <a:off x="9098280" y="4645152"/>
            <a:ext cx="2148840" cy="100584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unsafe or conflicting phase transitions observed</a:t>
            </a:r>
            <a:endParaRPr lang="en-US" sz="1100" dirty="0"/>
          </a:p>
        </p:txBody>
      </p:sp>
      <p:sp>
        <p:nvSpPr>
          <p:cNvPr id="15" name="Text 13"/>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04</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384048"/>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ARCHITECTURE</a:t>
            </a:r>
            <a:endParaRPr lang="en-US" sz="1250" dirty="0"/>
          </a:p>
        </p:txBody>
      </p:sp>
      <p:sp>
        <p:nvSpPr>
          <p:cNvPr id="3" name="Text 1"/>
          <p:cNvSpPr/>
          <p:nvPr/>
        </p:nvSpPr>
        <p:spPr>
          <a:xfrm>
            <a:off x="777240" y="685800"/>
            <a:ext cx="9784080" cy="594360"/>
          </a:xfrm>
          <a:prstGeom prst="rect">
            <a:avLst/>
          </a:prstGeom>
          <a:noFill/>
          <a:ln/>
        </p:spPr>
        <p:txBody>
          <a:bodyPr wrap="square" lIns="0" tIns="0" rIns="0" bIns="0" rtlCol="0" anchor="ctr"/>
          <a:lstStyle/>
          <a:p>
            <a:pPr marL="0" indent="0">
              <a:buNone/>
            </a:pPr>
            <a:r>
              <a:rPr lang="en-US" sz="2700" b="1" dirty="0">
                <a:solidFill>
                  <a:srgbClr val="1B2430"/>
                </a:solidFill>
                <a:latin typeface="Cambria" pitchFamily="34" charset="0"/>
                <a:ea typeface="Cambria" pitchFamily="34" charset="-122"/>
                <a:cs typeface="Cambria" pitchFamily="34" charset="-120"/>
              </a:rPr>
              <a:t>System Architecture &amp; FSM Logic</a:t>
            </a:r>
            <a:endParaRPr lang="en-US" sz="2700" dirty="0"/>
          </a:p>
        </p:txBody>
      </p:sp>
      <p:sp>
        <p:nvSpPr>
          <p:cNvPr id="4" name="Shape 2"/>
          <p:cNvSpPr/>
          <p:nvPr/>
        </p:nvSpPr>
        <p:spPr>
          <a:xfrm>
            <a:off x="777240" y="1325880"/>
            <a:ext cx="3063240" cy="1051560"/>
          </a:xfrm>
          <a:prstGeom prst="roundRect">
            <a:avLst>
              <a:gd name="adj" fmla="val 8696"/>
            </a:avLst>
          </a:prstGeom>
          <a:solidFill>
            <a:srgbClr val="F4F6F8"/>
          </a:solidFill>
          <a:ln w="12700">
            <a:solidFill>
              <a:srgbClr val="E1E6EA"/>
            </a:solidFill>
            <a:prstDash val="solid"/>
          </a:ln>
        </p:spPr>
      </p:sp>
      <p:sp>
        <p:nvSpPr>
          <p:cNvPr id="5" name="Shape 3"/>
          <p:cNvSpPr/>
          <p:nvPr/>
        </p:nvSpPr>
        <p:spPr>
          <a:xfrm>
            <a:off x="960120" y="1527048"/>
            <a:ext cx="640080" cy="640080"/>
          </a:xfrm>
          <a:prstGeom prst="ellipse">
            <a:avLst/>
          </a:prstGeom>
          <a:solidFill>
            <a:srgbClr val="415A77"/>
          </a:solidFill>
          <a:ln/>
        </p:spPr>
      </p:sp>
      <p:pic>
        <p:nvPicPr>
          <p:cNvPr id="6" name="Image 0" descr="/home/claude/icons/satelliteDish.png"/>
          <p:cNvPicPr>
            <a:picLocks noChangeAspect="1"/>
          </p:cNvPicPr>
          <p:nvPr/>
        </p:nvPicPr>
        <p:blipFill>
          <a:blip r:embed="rId3"/>
          <a:stretch>
            <a:fillRect/>
          </a:stretch>
        </p:blipFill>
        <p:spPr>
          <a:xfrm>
            <a:off x="1104138" y="1671066"/>
            <a:ext cx="352044" cy="352044"/>
          </a:xfrm>
          <a:prstGeom prst="rect">
            <a:avLst/>
          </a:prstGeom>
        </p:spPr>
      </p:pic>
      <p:sp>
        <p:nvSpPr>
          <p:cNvPr id="7" name="Text 4"/>
          <p:cNvSpPr/>
          <p:nvPr/>
        </p:nvSpPr>
        <p:spPr>
          <a:xfrm>
            <a:off x="1737360" y="1463040"/>
            <a:ext cx="1965960" cy="365760"/>
          </a:xfrm>
          <a:prstGeom prst="rect">
            <a:avLst/>
          </a:prstGeom>
          <a:noFill/>
          <a:ln/>
        </p:spPr>
        <p:txBody>
          <a:bodyPr wrap="square" lIns="0" tIns="0" rIns="0" bIns="0"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Sensing Layer</a:t>
            </a:r>
            <a:endParaRPr lang="en-US" sz="1450" dirty="0"/>
          </a:p>
        </p:txBody>
      </p:sp>
      <p:sp>
        <p:nvSpPr>
          <p:cNvPr id="8" name="Text 5"/>
          <p:cNvSpPr/>
          <p:nvPr/>
        </p:nvSpPr>
        <p:spPr>
          <a:xfrm>
            <a:off x="1737360" y="1828800"/>
            <a:ext cx="1965960" cy="502920"/>
          </a:xfrm>
          <a:prstGeom prst="rect">
            <a:avLst/>
          </a:prstGeom>
          <a:noFill/>
          <a:ln/>
        </p:spPr>
        <p:txBody>
          <a:bodyPr wrap="square" lIns="0" tIns="0" rIns="0" bIns="0" rtlCol="0" anchor="ctr"/>
          <a:lstStyle/>
          <a:p>
            <a:pPr marL="0" indent="0">
              <a:lnSpc>
                <a:spcPct val="115000"/>
              </a:lnSpc>
              <a:buNone/>
            </a:pPr>
            <a:r>
              <a:rPr lang="en-US" sz="1050" dirty="0">
                <a:solidFill>
                  <a:srgbClr val="6B7785"/>
                </a:solidFill>
                <a:latin typeface="Calibri" pitchFamily="34" charset="0"/>
                <a:ea typeface="Calibri" pitchFamily="34" charset="-122"/>
                <a:cs typeface="Calibri" pitchFamily="34" charset="-120"/>
              </a:rPr>
              <a:t>Inductive-loop / IR / camera density feed</a:t>
            </a:r>
            <a:endParaRPr lang="en-US" sz="1050" dirty="0"/>
          </a:p>
        </p:txBody>
      </p:sp>
      <p:sp>
        <p:nvSpPr>
          <p:cNvPr id="9" name="Text 6"/>
          <p:cNvSpPr/>
          <p:nvPr/>
        </p:nvSpPr>
        <p:spPr>
          <a:xfrm>
            <a:off x="3840480" y="1325880"/>
            <a:ext cx="502920" cy="1051560"/>
          </a:xfrm>
          <a:prstGeom prst="rect">
            <a:avLst/>
          </a:prstGeom>
          <a:noFill/>
          <a:ln/>
        </p:spPr>
        <p:txBody>
          <a:bodyPr wrap="square" lIns="0" tIns="0" rIns="0" bIns="0" rtlCol="0" anchor="ctr"/>
          <a:lstStyle/>
          <a:p>
            <a:pPr marL="0" indent="0" algn="ctr">
              <a:buNone/>
            </a:pPr>
            <a:r>
              <a:rPr lang="en-US" sz="2000" b="1" dirty="0">
                <a:solidFill>
                  <a:srgbClr val="F4A300"/>
                </a:solidFill>
              </a:rPr>
              <a:t>→</a:t>
            </a:r>
            <a:endParaRPr lang="en-US" sz="2000" dirty="0"/>
          </a:p>
        </p:txBody>
      </p:sp>
      <p:sp>
        <p:nvSpPr>
          <p:cNvPr id="10" name="Shape 7"/>
          <p:cNvSpPr/>
          <p:nvPr/>
        </p:nvSpPr>
        <p:spPr>
          <a:xfrm>
            <a:off x="4343400" y="1325880"/>
            <a:ext cx="3063240" cy="1051560"/>
          </a:xfrm>
          <a:prstGeom prst="roundRect">
            <a:avLst>
              <a:gd name="adj" fmla="val 8696"/>
            </a:avLst>
          </a:prstGeom>
          <a:solidFill>
            <a:srgbClr val="F4F6F8"/>
          </a:solidFill>
          <a:ln w="12700">
            <a:solidFill>
              <a:srgbClr val="E1E6EA"/>
            </a:solidFill>
            <a:prstDash val="solid"/>
          </a:ln>
        </p:spPr>
      </p:sp>
      <p:sp>
        <p:nvSpPr>
          <p:cNvPr id="11" name="Shape 8"/>
          <p:cNvSpPr/>
          <p:nvPr/>
        </p:nvSpPr>
        <p:spPr>
          <a:xfrm>
            <a:off x="4526280" y="1527048"/>
            <a:ext cx="640080" cy="640080"/>
          </a:xfrm>
          <a:prstGeom prst="ellipse">
            <a:avLst/>
          </a:prstGeom>
          <a:solidFill>
            <a:srgbClr val="415A77"/>
          </a:solidFill>
          <a:ln/>
        </p:spPr>
      </p:sp>
      <p:pic>
        <p:nvPicPr>
          <p:cNvPr id="12" name="Image 1" descr="/home/claude/icons/microchip.png"/>
          <p:cNvPicPr>
            <a:picLocks noChangeAspect="1"/>
          </p:cNvPicPr>
          <p:nvPr/>
        </p:nvPicPr>
        <p:blipFill>
          <a:blip r:embed="rId4"/>
          <a:stretch>
            <a:fillRect/>
          </a:stretch>
        </p:blipFill>
        <p:spPr>
          <a:xfrm>
            <a:off x="4670298" y="1671066"/>
            <a:ext cx="352044" cy="352044"/>
          </a:xfrm>
          <a:prstGeom prst="rect">
            <a:avLst/>
          </a:prstGeom>
        </p:spPr>
      </p:pic>
      <p:sp>
        <p:nvSpPr>
          <p:cNvPr id="13" name="Text 9"/>
          <p:cNvSpPr/>
          <p:nvPr/>
        </p:nvSpPr>
        <p:spPr>
          <a:xfrm>
            <a:off x="5303520" y="1463040"/>
            <a:ext cx="1965960" cy="365760"/>
          </a:xfrm>
          <a:prstGeom prst="rect">
            <a:avLst/>
          </a:prstGeom>
          <a:noFill/>
          <a:ln/>
        </p:spPr>
        <p:txBody>
          <a:bodyPr wrap="square" lIns="0" tIns="0" rIns="0" bIns="0"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FSM Controller</a:t>
            </a:r>
            <a:endParaRPr lang="en-US" sz="1450" dirty="0"/>
          </a:p>
        </p:txBody>
      </p:sp>
      <p:sp>
        <p:nvSpPr>
          <p:cNvPr id="14" name="Text 10"/>
          <p:cNvSpPr/>
          <p:nvPr/>
        </p:nvSpPr>
        <p:spPr>
          <a:xfrm>
            <a:off x="5303520" y="1828800"/>
            <a:ext cx="1965960" cy="502920"/>
          </a:xfrm>
          <a:prstGeom prst="rect">
            <a:avLst/>
          </a:prstGeom>
          <a:noFill/>
          <a:ln/>
        </p:spPr>
        <p:txBody>
          <a:bodyPr wrap="square" lIns="0" tIns="0" rIns="0" bIns="0" rtlCol="0" anchor="ctr"/>
          <a:lstStyle/>
          <a:p>
            <a:pPr marL="0" indent="0">
              <a:lnSpc>
                <a:spcPct val="115000"/>
              </a:lnSpc>
              <a:buNone/>
            </a:pPr>
            <a:r>
              <a:rPr lang="en-US" sz="1050" dirty="0">
                <a:solidFill>
                  <a:srgbClr val="6B7785"/>
                </a:solidFill>
                <a:latin typeface="Calibri" pitchFamily="34" charset="0"/>
                <a:ea typeface="Calibri" pitchFamily="34" charset="-122"/>
                <a:cs typeface="Calibri" pitchFamily="34" charset="-120"/>
              </a:rPr>
              <a:t>Evaluates state, applies transition rules</a:t>
            </a:r>
            <a:endParaRPr lang="en-US" sz="1050" dirty="0"/>
          </a:p>
        </p:txBody>
      </p:sp>
      <p:sp>
        <p:nvSpPr>
          <p:cNvPr id="15" name="Text 11"/>
          <p:cNvSpPr/>
          <p:nvPr/>
        </p:nvSpPr>
        <p:spPr>
          <a:xfrm>
            <a:off x="7406640" y="1325880"/>
            <a:ext cx="502920" cy="1051560"/>
          </a:xfrm>
          <a:prstGeom prst="rect">
            <a:avLst/>
          </a:prstGeom>
          <a:noFill/>
          <a:ln/>
        </p:spPr>
        <p:txBody>
          <a:bodyPr wrap="square" lIns="0" tIns="0" rIns="0" bIns="0" rtlCol="0" anchor="ctr"/>
          <a:lstStyle/>
          <a:p>
            <a:pPr marL="0" indent="0" algn="ctr">
              <a:buNone/>
            </a:pPr>
            <a:r>
              <a:rPr lang="en-US" sz="2000" b="1" dirty="0">
                <a:solidFill>
                  <a:srgbClr val="F4A300"/>
                </a:solidFill>
              </a:rPr>
              <a:t>→</a:t>
            </a:r>
            <a:endParaRPr lang="en-US" sz="2000" dirty="0"/>
          </a:p>
        </p:txBody>
      </p:sp>
      <p:sp>
        <p:nvSpPr>
          <p:cNvPr id="16" name="Shape 12"/>
          <p:cNvSpPr/>
          <p:nvPr/>
        </p:nvSpPr>
        <p:spPr>
          <a:xfrm>
            <a:off x="7964228" y="1257825"/>
            <a:ext cx="3063240" cy="1051560"/>
          </a:xfrm>
          <a:prstGeom prst="roundRect">
            <a:avLst>
              <a:gd name="adj" fmla="val 8696"/>
            </a:avLst>
          </a:prstGeom>
          <a:solidFill>
            <a:srgbClr val="F4F6F8"/>
          </a:solidFill>
          <a:ln w="12700">
            <a:solidFill>
              <a:srgbClr val="E1E6EA"/>
            </a:solidFill>
            <a:prstDash val="solid"/>
          </a:ln>
        </p:spPr>
      </p:sp>
      <p:sp>
        <p:nvSpPr>
          <p:cNvPr id="17" name="Shape 13"/>
          <p:cNvSpPr/>
          <p:nvPr/>
        </p:nvSpPr>
        <p:spPr>
          <a:xfrm>
            <a:off x="8092440" y="1527048"/>
            <a:ext cx="640080" cy="640080"/>
          </a:xfrm>
          <a:prstGeom prst="ellipse">
            <a:avLst/>
          </a:prstGeom>
          <a:solidFill>
            <a:srgbClr val="415A77"/>
          </a:solidFill>
          <a:ln/>
        </p:spPr>
      </p:sp>
      <p:pic>
        <p:nvPicPr>
          <p:cNvPr id="18" name="Image 2" descr="/home/claude/icons/trafficLight.png"/>
          <p:cNvPicPr>
            <a:picLocks noChangeAspect="1"/>
          </p:cNvPicPr>
          <p:nvPr/>
        </p:nvPicPr>
        <p:blipFill>
          <a:blip r:embed="rId5"/>
          <a:stretch>
            <a:fillRect/>
          </a:stretch>
        </p:blipFill>
        <p:spPr>
          <a:xfrm>
            <a:off x="8236458" y="1671066"/>
            <a:ext cx="352044" cy="352044"/>
          </a:xfrm>
          <a:prstGeom prst="rect">
            <a:avLst/>
          </a:prstGeom>
        </p:spPr>
      </p:pic>
      <p:sp>
        <p:nvSpPr>
          <p:cNvPr id="19" name="Text 14"/>
          <p:cNvSpPr/>
          <p:nvPr/>
        </p:nvSpPr>
        <p:spPr>
          <a:xfrm>
            <a:off x="8869680" y="1463040"/>
            <a:ext cx="1965960" cy="365760"/>
          </a:xfrm>
          <a:prstGeom prst="rect">
            <a:avLst/>
          </a:prstGeom>
          <a:noFill/>
          <a:ln/>
        </p:spPr>
        <p:txBody>
          <a:bodyPr wrap="square" lIns="0" tIns="0" rIns="0" bIns="0" rtlCol="0" anchor="ctr"/>
          <a:lstStyle/>
          <a:p>
            <a:pPr marL="0" indent="0">
              <a:buNone/>
            </a:pPr>
            <a:r>
              <a:rPr lang="en-US" sz="1450" b="1" dirty="0">
                <a:solidFill>
                  <a:srgbClr val="1B2430"/>
                </a:solidFill>
                <a:latin typeface="Cambria" pitchFamily="34" charset="0"/>
                <a:ea typeface="Cambria" pitchFamily="34" charset="-122"/>
                <a:cs typeface="Cambria" pitchFamily="34" charset="-120"/>
              </a:rPr>
              <a:t>Signal Output</a:t>
            </a:r>
            <a:endParaRPr lang="en-US" sz="1450" dirty="0"/>
          </a:p>
        </p:txBody>
      </p:sp>
      <p:sp>
        <p:nvSpPr>
          <p:cNvPr id="20" name="Text 15"/>
          <p:cNvSpPr/>
          <p:nvPr/>
        </p:nvSpPr>
        <p:spPr>
          <a:xfrm>
            <a:off x="8869680" y="1828800"/>
            <a:ext cx="1965960" cy="502920"/>
          </a:xfrm>
          <a:prstGeom prst="rect">
            <a:avLst/>
          </a:prstGeom>
          <a:noFill/>
          <a:ln/>
        </p:spPr>
        <p:txBody>
          <a:bodyPr wrap="square" lIns="0" tIns="0" rIns="0" bIns="0" rtlCol="0" anchor="ctr"/>
          <a:lstStyle/>
          <a:p>
            <a:pPr marL="0" indent="0">
              <a:lnSpc>
                <a:spcPct val="115000"/>
              </a:lnSpc>
              <a:buNone/>
            </a:pPr>
            <a:r>
              <a:rPr lang="en-US" sz="1050" dirty="0">
                <a:solidFill>
                  <a:srgbClr val="6B7785"/>
                </a:solidFill>
                <a:latin typeface="Calibri" pitchFamily="34" charset="0"/>
                <a:ea typeface="Calibri" pitchFamily="34" charset="-122"/>
                <a:cs typeface="Calibri" pitchFamily="34" charset="-120"/>
              </a:rPr>
              <a:t>Drives red / yellow / green lamps</a:t>
            </a:r>
            <a:endParaRPr lang="en-US" sz="1050" dirty="0"/>
          </a:p>
        </p:txBody>
      </p:sp>
      <p:sp>
        <p:nvSpPr>
          <p:cNvPr id="21" name="Text 16"/>
          <p:cNvSpPr/>
          <p:nvPr/>
        </p:nvSpPr>
        <p:spPr>
          <a:xfrm>
            <a:off x="777240" y="2450592"/>
            <a:ext cx="10195560" cy="274320"/>
          </a:xfrm>
          <a:prstGeom prst="rect">
            <a:avLst/>
          </a:prstGeom>
          <a:noFill/>
          <a:ln/>
        </p:spPr>
        <p:txBody>
          <a:bodyPr wrap="square" lIns="0" tIns="0" rIns="0" bIns="0" rtlCol="0" anchor="ctr"/>
          <a:lstStyle/>
          <a:p>
            <a:pPr marL="0" indent="0" algn="ctr">
              <a:buNone/>
            </a:pPr>
            <a:r>
              <a:rPr lang="en-US" sz="1000" i="1" dirty="0">
                <a:solidFill>
                  <a:srgbClr val="6B7785"/>
                </a:solidFill>
                <a:latin typeface="Calibri" pitchFamily="34" charset="0"/>
                <a:ea typeface="Calibri" pitchFamily="34" charset="-122"/>
                <a:cs typeface="Calibri" pitchFamily="34" charset="-120"/>
              </a:rPr>
              <a:t>Feedback: state history &amp; lane occupancy loop back into the controller every cycle</a:t>
            </a:r>
            <a:endParaRPr lang="en-US" sz="1000" dirty="0"/>
          </a:p>
        </p:txBody>
      </p:sp>
      <p:sp>
        <p:nvSpPr>
          <p:cNvPr id="22" name="Shape 17"/>
          <p:cNvSpPr/>
          <p:nvPr/>
        </p:nvSpPr>
        <p:spPr>
          <a:xfrm>
            <a:off x="777240" y="2880360"/>
            <a:ext cx="10634472" cy="3337560"/>
          </a:xfrm>
          <a:prstGeom prst="roundRect">
            <a:avLst>
              <a:gd name="adj" fmla="val 3288"/>
            </a:avLst>
          </a:prstGeom>
          <a:solidFill>
            <a:srgbClr val="0D1B2A"/>
          </a:solidFill>
          <a:ln/>
        </p:spPr>
      </p:sp>
      <p:sp>
        <p:nvSpPr>
          <p:cNvPr id="23" name="Text 18"/>
          <p:cNvSpPr/>
          <p:nvPr/>
        </p:nvSpPr>
        <p:spPr>
          <a:xfrm>
            <a:off x="1051560" y="3026664"/>
            <a:ext cx="4572000" cy="274320"/>
          </a:xfrm>
          <a:prstGeom prst="rect">
            <a:avLst/>
          </a:prstGeom>
          <a:noFill/>
          <a:ln/>
        </p:spPr>
        <p:txBody>
          <a:bodyPr wrap="square" lIns="0" tIns="0" rIns="0" bIns="0" rtlCol="0" anchor="ctr"/>
          <a:lstStyle/>
          <a:p>
            <a:pPr marL="0" indent="0">
              <a:buNone/>
            </a:pPr>
            <a:r>
              <a:rPr lang="en-US" sz="1100" b="1" kern="0" spc="200" dirty="0">
                <a:solidFill>
                  <a:srgbClr val="F4A300"/>
                </a:solidFill>
                <a:latin typeface="Calibri" pitchFamily="34" charset="0"/>
                <a:ea typeface="Calibri" pitchFamily="34" charset="-122"/>
                <a:cs typeface="Calibri" pitchFamily="34" charset="-120"/>
              </a:rPr>
              <a:t>STATE TRANSITION DIAGRAM</a:t>
            </a:r>
            <a:endParaRPr lang="en-US" sz="1100" dirty="0"/>
          </a:p>
        </p:txBody>
      </p:sp>
      <p:sp>
        <p:nvSpPr>
          <p:cNvPr id="24" name="Shape 19"/>
          <p:cNvSpPr/>
          <p:nvPr/>
        </p:nvSpPr>
        <p:spPr>
          <a:xfrm>
            <a:off x="6461381" y="3752918"/>
            <a:ext cx="1443897" cy="303140"/>
          </a:xfrm>
          <a:prstGeom prst="line">
            <a:avLst/>
          </a:prstGeom>
          <a:noFill/>
          <a:ln w="22225">
            <a:solidFill>
              <a:srgbClr val="5A7290"/>
            </a:solidFill>
            <a:prstDash val="solid"/>
            <a:headEnd type="none"/>
            <a:tailEnd type="triangle"/>
          </a:ln>
        </p:spPr>
      </p:sp>
      <p:sp>
        <p:nvSpPr>
          <p:cNvPr id="25" name="Shape 20"/>
          <p:cNvSpPr/>
          <p:nvPr/>
        </p:nvSpPr>
        <p:spPr>
          <a:xfrm>
            <a:off x="8272183" y="4507992"/>
            <a:ext cx="9144" cy="164592"/>
          </a:xfrm>
          <a:prstGeom prst="line">
            <a:avLst/>
          </a:prstGeom>
          <a:noFill/>
          <a:ln w="22225">
            <a:solidFill>
              <a:srgbClr val="5A7290"/>
            </a:solidFill>
            <a:prstDash val="solid"/>
            <a:headEnd type="none"/>
            <a:tailEnd type="triangle"/>
          </a:ln>
        </p:spPr>
      </p:sp>
      <p:sp>
        <p:nvSpPr>
          <p:cNvPr id="26" name="Shape 21"/>
          <p:cNvSpPr/>
          <p:nvPr/>
        </p:nvSpPr>
        <p:spPr>
          <a:xfrm flipH="1">
            <a:off x="6461381" y="5124518"/>
            <a:ext cx="1443897" cy="303140"/>
          </a:xfrm>
          <a:prstGeom prst="line">
            <a:avLst/>
          </a:prstGeom>
          <a:noFill/>
          <a:ln w="22225">
            <a:solidFill>
              <a:srgbClr val="5A7290"/>
            </a:solidFill>
            <a:prstDash val="solid"/>
            <a:headEnd type="none"/>
            <a:tailEnd type="triangle"/>
          </a:ln>
        </p:spPr>
      </p:sp>
      <p:sp>
        <p:nvSpPr>
          <p:cNvPr id="27" name="Shape 22"/>
          <p:cNvSpPr/>
          <p:nvPr/>
        </p:nvSpPr>
        <p:spPr>
          <a:xfrm flipH="1" flipV="1">
            <a:off x="4283674" y="5124518"/>
            <a:ext cx="1443897" cy="303140"/>
          </a:xfrm>
          <a:prstGeom prst="line">
            <a:avLst/>
          </a:prstGeom>
          <a:noFill/>
          <a:ln w="22225">
            <a:solidFill>
              <a:srgbClr val="5A7290"/>
            </a:solidFill>
            <a:prstDash val="solid"/>
            <a:headEnd type="none"/>
            <a:tailEnd type="triangle"/>
          </a:ln>
        </p:spPr>
      </p:sp>
      <p:sp>
        <p:nvSpPr>
          <p:cNvPr id="28" name="Shape 23"/>
          <p:cNvSpPr/>
          <p:nvPr/>
        </p:nvSpPr>
        <p:spPr>
          <a:xfrm flipV="1">
            <a:off x="3916769" y="4507992"/>
            <a:ext cx="9144" cy="164592"/>
          </a:xfrm>
          <a:prstGeom prst="line">
            <a:avLst/>
          </a:prstGeom>
          <a:noFill/>
          <a:ln w="22225">
            <a:solidFill>
              <a:srgbClr val="5A7290"/>
            </a:solidFill>
            <a:prstDash val="solid"/>
            <a:headEnd type="none"/>
            <a:tailEnd type="triangle"/>
          </a:ln>
        </p:spPr>
      </p:sp>
      <p:sp>
        <p:nvSpPr>
          <p:cNvPr id="29" name="Shape 24"/>
          <p:cNvSpPr/>
          <p:nvPr/>
        </p:nvSpPr>
        <p:spPr>
          <a:xfrm flipV="1">
            <a:off x="4283674" y="3752918"/>
            <a:ext cx="1443897" cy="303140"/>
          </a:xfrm>
          <a:prstGeom prst="line">
            <a:avLst/>
          </a:prstGeom>
          <a:noFill/>
          <a:ln w="22225">
            <a:solidFill>
              <a:srgbClr val="5A7290"/>
            </a:solidFill>
            <a:prstDash val="solid"/>
            <a:headEnd type="none"/>
            <a:tailEnd type="triangle"/>
          </a:ln>
        </p:spPr>
      </p:sp>
      <p:sp>
        <p:nvSpPr>
          <p:cNvPr id="30" name="Shape 25"/>
          <p:cNvSpPr/>
          <p:nvPr/>
        </p:nvSpPr>
        <p:spPr>
          <a:xfrm>
            <a:off x="5774436" y="3355848"/>
            <a:ext cx="640080" cy="640080"/>
          </a:xfrm>
          <a:prstGeom prst="ellipse">
            <a:avLst/>
          </a:prstGeom>
          <a:solidFill>
            <a:srgbClr val="13243A"/>
          </a:solidFill>
          <a:ln w="28575">
            <a:solidFill>
              <a:srgbClr val="2ECC71"/>
            </a:solidFill>
            <a:prstDash val="solid"/>
          </a:ln>
        </p:spPr>
      </p:sp>
      <p:sp>
        <p:nvSpPr>
          <p:cNvPr id="31" name="Text 26"/>
          <p:cNvSpPr/>
          <p:nvPr/>
        </p:nvSpPr>
        <p:spPr>
          <a:xfrm>
            <a:off x="5774436" y="34290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S0</a:t>
            </a:r>
            <a:endParaRPr lang="en-US" sz="1300" dirty="0"/>
          </a:p>
        </p:txBody>
      </p:sp>
      <p:sp>
        <p:nvSpPr>
          <p:cNvPr id="32" name="Text 27"/>
          <p:cNvSpPr/>
          <p:nvPr/>
        </p:nvSpPr>
        <p:spPr>
          <a:xfrm>
            <a:off x="5408676" y="37124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NS Green</a:t>
            </a:r>
            <a:endParaRPr lang="en-US" sz="900" dirty="0"/>
          </a:p>
        </p:txBody>
      </p:sp>
      <p:sp>
        <p:nvSpPr>
          <p:cNvPr id="33" name="Shape 28"/>
          <p:cNvSpPr/>
          <p:nvPr/>
        </p:nvSpPr>
        <p:spPr>
          <a:xfrm>
            <a:off x="7952143" y="3813048"/>
            <a:ext cx="640080" cy="640080"/>
          </a:xfrm>
          <a:prstGeom prst="ellipse">
            <a:avLst/>
          </a:prstGeom>
          <a:solidFill>
            <a:srgbClr val="13243A"/>
          </a:solidFill>
          <a:ln w="28575">
            <a:solidFill>
              <a:srgbClr val="F4A300"/>
            </a:solidFill>
            <a:prstDash val="solid"/>
          </a:ln>
        </p:spPr>
      </p:sp>
      <p:sp>
        <p:nvSpPr>
          <p:cNvPr id="34" name="Text 29"/>
          <p:cNvSpPr/>
          <p:nvPr/>
        </p:nvSpPr>
        <p:spPr>
          <a:xfrm>
            <a:off x="7952143" y="38862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S1</a:t>
            </a:r>
            <a:endParaRPr lang="en-US" sz="1300" dirty="0"/>
          </a:p>
        </p:txBody>
      </p:sp>
      <p:sp>
        <p:nvSpPr>
          <p:cNvPr id="35" name="Text 30"/>
          <p:cNvSpPr/>
          <p:nvPr/>
        </p:nvSpPr>
        <p:spPr>
          <a:xfrm>
            <a:off x="7586383" y="41696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NS Yellow</a:t>
            </a:r>
            <a:endParaRPr lang="en-US" sz="900" dirty="0"/>
          </a:p>
        </p:txBody>
      </p:sp>
      <p:sp>
        <p:nvSpPr>
          <p:cNvPr id="36" name="Shape 31"/>
          <p:cNvSpPr/>
          <p:nvPr/>
        </p:nvSpPr>
        <p:spPr>
          <a:xfrm>
            <a:off x="7952143" y="4727448"/>
            <a:ext cx="640080" cy="640080"/>
          </a:xfrm>
          <a:prstGeom prst="ellipse">
            <a:avLst/>
          </a:prstGeom>
          <a:solidFill>
            <a:srgbClr val="13243A"/>
          </a:solidFill>
          <a:ln w="28575">
            <a:solidFill>
              <a:srgbClr val="E15241"/>
            </a:solidFill>
            <a:prstDash val="solid"/>
          </a:ln>
        </p:spPr>
      </p:sp>
      <p:sp>
        <p:nvSpPr>
          <p:cNvPr id="37" name="Text 32"/>
          <p:cNvSpPr/>
          <p:nvPr/>
        </p:nvSpPr>
        <p:spPr>
          <a:xfrm>
            <a:off x="7952143" y="48006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S2</a:t>
            </a:r>
            <a:endParaRPr lang="en-US" sz="1300" dirty="0"/>
          </a:p>
        </p:txBody>
      </p:sp>
      <p:sp>
        <p:nvSpPr>
          <p:cNvPr id="38" name="Text 33"/>
          <p:cNvSpPr/>
          <p:nvPr/>
        </p:nvSpPr>
        <p:spPr>
          <a:xfrm>
            <a:off x="7586383" y="50840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All-Red</a:t>
            </a:r>
            <a:endParaRPr lang="en-US" sz="900" dirty="0"/>
          </a:p>
        </p:txBody>
      </p:sp>
      <p:sp>
        <p:nvSpPr>
          <p:cNvPr id="39" name="Shape 34"/>
          <p:cNvSpPr/>
          <p:nvPr/>
        </p:nvSpPr>
        <p:spPr>
          <a:xfrm>
            <a:off x="5774436" y="5184648"/>
            <a:ext cx="640080" cy="640080"/>
          </a:xfrm>
          <a:prstGeom prst="ellipse">
            <a:avLst/>
          </a:prstGeom>
          <a:solidFill>
            <a:srgbClr val="13243A"/>
          </a:solidFill>
          <a:ln w="28575">
            <a:solidFill>
              <a:srgbClr val="2ECC71"/>
            </a:solidFill>
            <a:prstDash val="solid"/>
          </a:ln>
        </p:spPr>
      </p:sp>
      <p:sp>
        <p:nvSpPr>
          <p:cNvPr id="40" name="Text 35"/>
          <p:cNvSpPr/>
          <p:nvPr/>
        </p:nvSpPr>
        <p:spPr>
          <a:xfrm>
            <a:off x="5774436" y="52578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S3</a:t>
            </a:r>
            <a:endParaRPr lang="en-US" sz="1300" dirty="0"/>
          </a:p>
        </p:txBody>
      </p:sp>
      <p:sp>
        <p:nvSpPr>
          <p:cNvPr id="41" name="Text 36"/>
          <p:cNvSpPr/>
          <p:nvPr/>
        </p:nvSpPr>
        <p:spPr>
          <a:xfrm>
            <a:off x="5408676" y="55412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EW Green</a:t>
            </a:r>
            <a:endParaRPr lang="en-US" sz="900" dirty="0"/>
          </a:p>
        </p:txBody>
      </p:sp>
      <p:sp>
        <p:nvSpPr>
          <p:cNvPr id="42" name="Shape 37"/>
          <p:cNvSpPr/>
          <p:nvPr/>
        </p:nvSpPr>
        <p:spPr>
          <a:xfrm>
            <a:off x="3596729" y="4727448"/>
            <a:ext cx="640080" cy="640080"/>
          </a:xfrm>
          <a:prstGeom prst="ellipse">
            <a:avLst/>
          </a:prstGeom>
          <a:solidFill>
            <a:srgbClr val="13243A"/>
          </a:solidFill>
          <a:ln w="28575">
            <a:solidFill>
              <a:srgbClr val="F4A300"/>
            </a:solidFill>
            <a:prstDash val="solid"/>
          </a:ln>
        </p:spPr>
      </p:sp>
      <p:sp>
        <p:nvSpPr>
          <p:cNvPr id="43" name="Text 38"/>
          <p:cNvSpPr/>
          <p:nvPr/>
        </p:nvSpPr>
        <p:spPr>
          <a:xfrm>
            <a:off x="3596729" y="48006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S4</a:t>
            </a:r>
            <a:endParaRPr lang="en-US" sz="1300" dirty="0"/>
          </a:p>
        </p:txBody>
      </p:sp>
      <p:sp>
        <p:nvSpPr>
          <p:cNvPr id="44" name="Text 39"/>
          <p:cNvSpPr/>
          <p:nvPr/>
        </p:nvSpPr>
        <p:spPr>
          <a:xfrm>
            <a:off x="3230969" y="50840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EW Yellow</a:t>
            </a:r>
            <a:endParaRPr lang="en-US" sz="900" dirty="0"/>
          </a:p>
        </p:txBody>
      </p:sp>
      <p:sp>
        <p:nvSpPr>
          <p:cNvPr id="45" name="Shape 40"/>
          <p:cNvSpPr/>
          <p:nvPr/>
        </p:nvSpPr>
        <p:spPr>
          <a:xfrm>
            <a:off x="3596729" y="3813048"/>
            <a:ext cx="640080" cy="640080"/>
          </a:xfrm>
          <a:prstGeom prst="ellipse">
            <a:avLst/>
          </a:prstGeom>
          <a:solidFill>
            <a:srgbClr val="13243A"/>
          </a:solidFill>
          <a:ln w="28575">
            <a:solidFill>
              <a:srgbClr val="E15241"/>
            </a:solidFill>
            <a:prstDash val="solid"/>
          </a:ln>
        </p:spPr>
      </p:sp>
      <p:sp>
        <p:nvSpPr>
          <p:cNvPr id="46" name="Text 41"/>
          <p:cNvSpPr/>
          <p:nvPr/>
        </p:nvSpPr>
        <p:spPr>
          <a:xfrm>
            <a:off x="3596729" y="3886200"/>
            <a:ext cx="6400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S5</a:t>
            </a:r>
            <a:endParaRPr lang="en-US" sz="1300" dirty="0"/>
          </a:p>
        </p:txBody>
      </p:sp>
      <p:sp>
        <p:nvSpPr>
          <p:cNvPr id="47" name="Text 42"/>
          <p:cNvSpPr/>
          <p:nvPr/>
        </p:nvSpPr>
        <p:spPr>
          <a:xfrm>
            <a:off x="3230969" y="4169664"/>
            <a:ext cx="1371600" cy="237744"/>
          </a:xfrm>
          <a:prstGeom prst="rect">
            <a:avLst/>
          </a:prstGeom>
          <a:noFill/>
          <a:ln/>
        </p:spPr>
        <p:txBody>
          <a:bodyPr wrap="square" lIns="0" tIns="0" rIns="0" bIns="0" rtlCol="0" anchor="ctr"/>
          <a:lstStyle/>
          <a:p>
            <a:pPr marL="0" indent="0" algn="ctr">
              <a:buNone/>
            </a:pPr>
            <a:r>
              <a:rPr lang="en-US" sz="900" dirty="0">
                <a:solidFill>
                  <a:srgbClr val="CADCFC"/>
                </a:solidFill>
                <a:latin typeface="Calibri" pitchFamily="34" charset="0"/>
                <a:ea typeface="Calibri" pitchFamily="34" charset="-122"/>
                <a:cs typeface="Calibri" pitchFamily="34" charset="-120"/>
              </a:rPr>
              <a:t>All-Red</a:t>
            </a:r>
            <a:endParaRPr lang="en-US" sz="900" dirty="0"/>
          </a:p>
        </p:txBody>
      </p:sp>
      <p:sp>
        <p:nvSpPr>
          <p:cNvPr id="48" name="Text 43"/>
          <p:cNvSpPr/>
          <p:nvPr/>
        </p:nvSpPr>
        <p:spPr>
          <a:xfrm>
            <a:off x="1051560" y="5852160"/>
            <a:ext cx="10058400" cy="274320"/>
          </a:xfrm>
          <a:prstGeom prst="rect">
            <a:avLst/>
          </a:prstGeom>
          <a:noFill/>
          <a:ln/>
        </p:spPr>
        <p:txBody>
          <a:bodyPr wrap="square" lIns="0" tIns="0" rIns="0" bIns="0" rtlCol="0" anchor="ctr"/>
          <a:lstStyle/>
          <a:p>
            <a:pPr marL="0" indent="0">
              <a:buNone/>
            </a:pPr>
            <a:r>
              <a:rPr lang="en-US" sz="1050" i="1" dirty="0">
                <a:solidFill>
                  <a:srgbClr val="9FB3C8"/>
                </a:solidFill>
                <a:latin typeface="Calibri" pitchFamily="34" charset="0"/>
                <a:ea typeface="Calibri" pitchFamily="34" charset="-122"/>
                <a:cs typeface="Calibri" pitchFamily="34" charset="-120"/>
              </a:rPr>
              <a:t>Cycle:  NS Green → NS Yellow → All-Red → EW Green → EW Yellow → All-Red → repeat</a:t>
            </a:r>
            <a:endParaRPr lang="en-US" sz="1050" dirty="0"/>
          </a:p>
        </p:txBody>
      </p:sp>
      <p:sp>
        <p:nvSpPr>
          <p:cNvPr id="49" name="Text 44"/>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05</a:t>
            </a:r>
            <a:endParaRPr lang="en-US" sz="1100" dirty="0"/>
          </a:p>
        </p:txBody>
      </p:sp>
      <p:pic>
        <p:nvPicPr>
          <p:cNvPr id="51" name="Picture 50">
            <a:extLst>
              <a:ext uri="{FF2B5EF4-FFF2-40B4-BE49-F238E27FC236}">
                <a16:creationId xmlns:a16="http://schemas.microsoft.com/office/drawing/2014/main" id="{4717F49C-590A-2D16-A5CA-2243C0C7438F}"/>
              </a:ext>
            </a:extLst>
          </p:cNvPr>
          <p:cNvPicPr>
            <a:picLocks noChangeAspect="1"/>
          </p:cNvPicPr>
          <p:nvPr/>
        </p:nvPicPr>
        <p:blipFill>
          <a:blip r:embed="rId6"/>
          <a:stretch>
            <a:fillRect/>
          </a:stretch>
        </p:blipFill>
        <p:spPr>
          <a:xfrm>
            <a:off x="749808" y="2843784"/>
            <a:ext cx="10661904" cy="3452240"/>
          </a:xfrm>
          <a:prstGeom prst="rect">
            <a:avLst/>
          </a:prstGeom>
        </p:spPr>
      </p:pic>
    </p:spTree>
  </p:cSld>
  <p:clrMapOvr>
    <a:masterClrMapping/>
  </p:clrMapOvr>
  <p:transition spd="slow">
    <p:wheel spokes="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BENEFITS</a:t>
            </a:r>
            <a:endParaRPr lang="en-US" sz="1250" dirty="0"/>
          </a:p>
        </p:txBody>
      </p:sp>
      <p:sp>
        <p:nvSpPr>
          <p:cNvPr id="3" name="Text 1"/>
          <p:cNvSpPr/>
          <p:nvPr/>
        </p:nvSpPr>
        <p:spPr>
          <a:xfrm>
            <a:off x="777240" y="822960"/>
            <a:ext cx="9601200" cy="68580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Benefits &amp; Advantages</a:t>
            </a:r>
            <a:endParaRPr lang="en-US" sz="3000" dirty="0"/>
          </a:p>
        </p:txBody>
      </p:sp>
      <p:sp>
        <p:nvSpPr>
          <p:cNvPr id="4" name="Shape 2"/>
          <p:cNvSpPr/>
          <p:nvPr/>
        </p:nvSpPr>
        <p:spPr>
          <a:xfrm>
            <a:off x="777240" y="1828800"/>
            <a:ext cx="3429000" cy="1691640"/>
          </a:xfrm>
          <a:prstGeom prst="roundRect">
            <a:avLst>
              <a:gd name="adj" fmla="val 5405"/>
            </a:avLst>
          </a:prstGeom>
          <a:solidFill>
            <a:srgbClr val="F4F6F8"/>
          </a:solidFill>
          <a:ln w="12700">
            <a:solidFill>
              <a:srgbClr val="E1E6EA"/>
            </a:solidFill>
            <a:prstDash val="solid"/>
          </a:ln>
        </p:spPr>
      </p:sp>
      <p:sp>
        <p:nvSpPr>
          <p:cNvPr id="5" name="Shape 3"/>
          <p:cNvSpPr/>
          <p:nvPr/>
        </p:nvSpPr>
        <p:spPr>
          <a:xfrm>
            <a:off x="1033272" y="2084832"/>
            <a:ext cx="566928" cy="566928"/>
          </a:xfrm>
          <a:prstGeom prst="ellipse">
            <a:avLst/>
          </a:prstGeom>
          <a:solidFill>
            <a:srgbClr val="415A77"/>
          </a:solidFill>
          <a:ln/>
        </p:spPr>
      </p:sp>
      <p:pic>
        <p:nvPicPr>
          <p:cNvPr id="6" name="Image 0" descr="/home/claude/icons/shieldCheck.png"/>
          <p:cNvPicPr>
            <a:picLocks noChangeAspect="1"/>
          </p:cNvPicPr>
          <p:nvPr/>
        </p:nvPicPr>
        <p:blipFill>
          <a:blip r:embed="rId3"/>
          <a:stretch>
            <a:fillRect/>
          </a:stretch>
        </p:blipFill>
        <p:spPr>
          <a:xfrm>
            <a:off x="1160831" y="2212391"/>
            <a:ext cx="311810" cy="311810"/>
          </a:xfrm>
          <a:prstGeom prst="rect">
            <a:avLst/>
          </a:prstGeom>
        </p:spPr>
      </p:pic>
      <p:sp>
        <p:nvSpPr>
          <p:cNvPr id="7" name="Text 4"/>
          <p:cNvSpPr/>
          <p:nvPr/>
        </p:nvSpPr>
        <p:spPr>
          <a:xfrm>
            <a:off x="1764792" y="2029968"/>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Formally Verifiable</a:t>
            </a:r>
            <a:endParaRPr lang="en-US" sz="1400" dirty="0"/>
          </a:p>
        </p:txBody>
      </p:sp>
      <p:sp>
        <p:nvSpPr>
          <p:cNvPr id="8" name="Text 5"/>
          <p:cNvSpPr/>
          <p:nvPr/>
        </p:nvSpPr>
        <p:spPr>
          <a:xfrm>
            <a:off x="1033272" y="2697480"/>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Every state and transition can be checked and certified for safety.</a:t>
            </a:r>
            <a:endParaRPr lang="en-US" sz="1100" dirty="0"/>
          </a:p>
        </p:txBody>
      </p:sp>
      <p:sp>
        <p:nvSpPr>
          <p:cNvPr id="9" name="Shape 6"/>
          <p:cNvSpPr/>
          <p:nvPr/>
        </p:nvSpPr>
        <p:spPr>
          <a:xfrm>
            <a:off x="4462272" y="1828800"/>
            <a:ext cx="3429000" cy="1691640"/>
          </a:xfrm>
          <a:prstGeom prst="roundRect">
            <a:avLst>
              <a:gd name="adj" fmla="val 5405"/>
            </a:avLst>
          </a:prstGeom>
          <a:solidFill>
            <a:srgbClr val="F4F6F8"/>
          </a:solidFill>
          <a:ln w="12700">
            <a:solidFill>
              <a:srgbClr val="E1E6EA"/>
            </a:solidFill>
            <a:prstDash val="solid"/>
          </a:ln>
        </p:spPr>
      </p:sp>
      <p:sp>
        <p:nvSpPr>
          <p:cNvPr id="10" name="Shape 7"/>
          <p:cNvSpPr/>
          <p:nvPr/>
        </p:nvSpPr>
        <p:spPr>
          <a:xfrm>
            <a:off x="4718304" y="2084832"/>
            <a:ext cx="566928" cy="566928"/>
          </a:xfrm>
          <a:prstGeom prst="ellipse">
            <a:avLst/>
          </a:prstGeom>
          <a:solidFill>
            <a:srgbClr val="415A77"/>
          </a:solidFill>
          <a:ln/>
        </p:spPr>
      </p:sp>
      <p:pic>
        <p:nvPicPr>
          <p:cNvPr id="11" name="Image 1" descr="/home/claude/icons/gaugeHigh.png"/>
          <p:cNvPicPr>
            <a:picLocks noChangeAspect="1"/>
          </p:cNvPicPr>
          <p:nvPr/>
        </p:nvPicPr>
        <p:blipFill>
          <a:blip r:embed="rId4"/>
          <a:stretch>
            <a:fillRect/>
          </a:stretch>
        </p:blipFill>
        <p:spPr>
          <a:xfrm>
            <a:off x="4845863" y="2212391"/>
            <a:ext cx="311810" cy="311810"/>
          </a:xfrm>
          <a:prstGeom prst="rect">
            <a:avLst/>
          </a:prstGeom>
        </p:spPr>
      </p:pic>
      <p:sp>
        <p:nvSpPr>
          <p:cNvPr id="12" name="Text 8"/>
          <p:cNvSpPr/>
          <p:nvPr/>
        </p:nvSpPr>
        <p:spPr>
          <a:xfrm>
            <a:off x="5449824" y="2029968"/>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Lower Average Delay</a:t>
            </a:r>
            <a:endParaRPr lang="en-US" sz="1400" dirty="0"/>
          </a:p>
        </p:txBody>
      </p:sp>
      <p:sp>
        <p:nvSpPr>
          <p:cNvPr id="13" name="Text 9"/>
          <p:cNvSpPr/>
          <p:nvPr/>
        </p:nvSpPr>
        <p:spPr>
          <a:xfrm>
            <a:off x="4718304" y="2697480"/>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Adaptive green time cuts stop-and-go queues at every approach.</a:t>
            </a:r>
            <a:endParaRPr lang="en-US" sz="1100" dirty="0"/>
          </a:p>
        </p:txBody>
      </p:sp>
      <p:sp>
        <p:nvSpPr>
          <p:cNvPr id="14" name="Shape 10"/>
          <p:cNvSpPr/>
          <p:nvPr/>
        </p:nvSpPr>
        <p:spPr>
          <a:xfrm>
            <a:off x="8147304" y="1828800"/>
            <a:ext cx="3429000" cy="1691640"/>
          </a:xfrm>
          <a:prstGeom prst="roundRect">
            <a:avLst>
              <a:gd name="adj" fmla="val 5405"/>
            </a:avLst>
          </a:prstGeom>
          <a:solidFill>
            <a:srgbClr val="F4F6F8"/>
          </a:solidFill>
          <a:ln w="12700">
            <a:solidFill>
              <a:srgbClr val="E1E6EA"/>
            </a:solidFill>
            <a:prstDash val="solid"/>
          </a:ln>
        </p:spPr>
      </p:sp>
      <p:sp>
        <p:nvSpPr>
          <p:cNvPr id="15" name="Shape 11"/>
          <p:cNvSpPr/>
          <p:nvPr/>
        </p:nvSpPr>
        <p:spPr>
          <a:xfrm>
            <a:off x="8403336" y="2084832"/>
            <a:ext cx="566928" cy="566928"/>
          </a:xfrm>
          <a:prstGeom prst="ellipse">
            <a:avLst/>
          </a:prstGeom>
          <a:solidFill>
            <a:srgbClr val="415A77"/>
          </a:solidFill>
          <a:ln/>
        </p:spPr>
      </p:sp>
      <p:pic>
        <p:nvPicPr>
          <p:cNvPr id="16" name="Image 2" descr="/home/claude/icons/circleDot.png"/>
          <p:cNvPicPr>
            <a:picLocks noChangeAspect="1"/>
          </p:cNvPicPr>
          <p:nvPr/>
        </p:nvPicPr>
        <p:blipFill>
          <a:blip r:embed="rId5"/>
          <a:stretch>
            <a:fillRect/>
          </a:stretch>
        </p:blipFill>
        <p:spPr>
          <a:xfrm>
            <a:off x="8530895" y="2212391"/>
            <a:ext cx="311810" cy="311810"/>
          </a:xfrm>
          <a:prstGeom prst="rect">
            <a:avLst/>
          </a:prstGeom>
        </p:spPr>
      </p:pic>
      <p:sp>
        <p:nvSpPr>
          <p:cNvPr id="17" name="Text 12"/>
          <p:cNvSpPr/>
          <p:nvPr/>
        </p:nvSpPr>
        <p:spPr>
          <a:xfrm>
            <a:off x="9134856" y="2029968"/>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Deterministic Behaviour</a:t>
            </a:r>
            <a:endParaRPr lang="en-US" sz="1400" dirty="0"/>
          </a:p>
        </p:txBody>
      </p:sp>
      <p:sp>
        <p:nvSpPr>
          <p:cNvPr id="18" name="Text 13"/>
          <p:cNvSpPr/>
          <p:nvPr/>
        </p:nvSpPr>
        <p:spPr>
          <a:xfrm>
            <a:off x="8403336" y="2697480"/>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Predictable, testable logic — easier to validate before deployment.</a:t>
            </a:r>
            <a:endParaRPr lang="en-US" sz="1100" dirty="0"/>
          </a:p>
        </p:txBody>
      </p:sp>
      <p:sp>
        <p:nvSpPr>
          <p:cNvPr id="19" name="Shape 14"/>
          <p:cNvSpPr/>
          <p:nvPr/>
        </p:nvSpPr>
        <p:spPr>
          <a:xfrm>
            <a:off x="777240" y="3776472"/>
            <a:ext cx="3429000" cy="1691640"/>
          </a:xfrm>
          <a:prstGeom prst="roundRect">
            <a:avLst>
              <a:gd name="adj" fmla="val 5405"/>
            </a:avLst>
          </a:prstGeom>
          <a:solidFill>
            <a:srgbClr val="F4F6F8"/>
          </a:solidFill>
          <a:ln w="12700">
            <a:solidFill>
              <a:srgbClr val="E1E6EA"/>
            </a:solidFill>
            <a:prstDash val="solid"/>
          </a:ln>
        </p:spPr>
      </p:sp>
      <p:sp>
        <p:nvSpPr>
          <p:cNvPr id="20" name="Shape 15"/>
          <p:cNvSpPr/>
          <p:nvPr/>
        </p:nvSpPr>
        <p:spPr>
          <a:xfrm>
            <a:off x="1033272" y="4032504"/>
            <a:ext cx="566928" cy="566928"/>
          </a:xfrm>
          <a:prstGeom prst="ellipse">
            <a:avLst/>
          </a:prstGeom>
          <a:solidFill>
            <a:srgbClr val="415A77"/>
          </a:solidFill>
          <a:ln/>
        </p:spPr>
      </p:sp>
      <p:pic>
        <p:nvPicPr>
          <p:cNvPr id="21" name="Image 3" descr="/home/claude/icons/microchip.png"/>
          <p:cNvPicPr>
            <a:picLocks noChangeAspect="1"/>
          </p:cNvPicPr>
          <p:nvPr/>
        </p:nvPicPr>
        <p:blipFill>
          <a:blip r:embed="rId6"/>
          <a:stretch>
            <a:fillRect/>
          </a:stretch>
        </p:blipFill>
        <p:spPr>
          <a:xfrm>
            <a:off x="1160831" y="4160063"/>
            <a:ext cx="311810" cy="311810"/>
          </a:xfrm>
          <a:prstGeom prst="rect">
            <a:avLst/>
          </a:prstGeom>
        </p:spPr>
      </p:pic>
      <p:sp>
        <p:nvSpPr>
          <p:cNvPr id="22" name="Text 16"/>
          <p:cNvSpPr/>
          <p:nvPr/>
        </p:nvSpPr>
        <p:spPr>
          <a:xfrm>
            <a:off x="1764792" y="3977640"/>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Simple to Implement</a:t>
            </a:r>
            <a:endParaRPr lang="en-US" sz="1400" dirty="0"/>
          </a:p>
        </p:txBody>
      </p:sp>
      <p:sp>
        <p:nvSpPr>
          <p:cNvPr id="23" name="Text 17"/>
          <p:cNvSpPr/>
          <p:nvPr/>
        </p:nvSpPr>
        <p:spPr>
          <a:xfrm>
            <a:off x="1033272" y="4645152"/>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Maps directly to a state table in software, HDL, or an FPGA.</a:t>
            </a:r>
            <a:endParaRPr lang="en-US" sz="1100" dirty="0"/>
          </a:p>
        </p:txBody>
      </p:sp>
      <p:sp>
        <p:nvSpPr>
          <p:cNvPr id="24" name="Shape 18"/>
          <p:cNvSpPr/>
          <p:nvPr/>
        </p:nvSpPr>
        <p:spPr>
          <a:xfrm>
            <a:off x="4462272" y="3776472"/>
            <a:ext cx="3429000" cy="1691640"/>
          </a:xfrm>
          <a:prstGeom prst="roundRect">
            <a:avLst>
              <a:gd name="adj" fmla="val 5405"/>
            </a:avLst>
          </a:prstGeom>
          <a:solidFill>
            <a:srgbClr val="F4F6F8"/>
          </a:solidFill>
          <a:ln w="12700">
            <a:solidFill>
              <a:srgbClr val="E1E6EA"/>
            </a:solidFill>
            <a:prstDash val="solid"/>
          </a:ln>
        </p:spPr>
      </p:sp>
      <p:sp>
        <p:nvSpPr>
          <p:cNvPr id="25" name="Shape 19"/>
          <p:cNvSpPr/>
          <p:nvPr/>
        </p:nvSpPr>
        <p:spPr>
          <a:xfrm>
            <a:off x="4718304" y="4032504"/>
            <a:ext cx="566928" cy="566928"/>
          </a:xfrm>
          <a:prstGeom prst="ellipse">
            <a:avLst/>
          </a:prstGeom>
          <a:solidFill>
            <a:srgbClr val="415A77"/>
          </a:solidFill>
          <a:ln/>
        </p:spPr>
      </p:sp>
      <p:pic>
        <p:nvPicPr>
          <p:cNvPr id="26" name="Image 4" descr="/home/claude/icons/cubes.png"/>
          <p:cNvPicPr>
            <a:picLocks noChangeAspect="1"/>
          </p:cNvPicPr>
          <p:nvPr/>
        </p:nvPicPr>
        <p:blipFill>
          <a:blip r:embed="rId7"/>
          <a:stretch>
            <a:fillRect/>
          </a:stretch>
        </p:blipFill>
        <p:spPr>
          <a:xfrm>
            <a:off x="4845863" y="4160063"/>
            <a:ext cx="311810" cy="311810"/>
          </a:xfrm>
          <a:prstGeom prst="rect">
            <a:avLst/>
          </a:prstGeom>
        </p:spPr>
      </p:pic>
      <p:sp>
        <p:nvSpPr>
          <p:cNvPr id="27" name="Text 20"/>
          <p:cNvSpPr/>
          <p:nvPr/>
        </p:nvSpPr>
        <p:spPr>
          <a:xfrm>
            <a:off x="5449824" y="3977640"/>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Scales Cleanly</a:t>
            </a:r>
            <a:endParaRPr lang="en-US" sz="1400" dirty="0"/>
          </a:p>
        </p:txBody>
      </p:sp>
      <p:sp>
        <p:nvSpPr>
          <p:cNvPr id="28" name="Text 21"/>
          <p:cNvSpPr/>
          <p:nvPr/>
        </p:nvSpPr>
        <p:spPr>
          <a:xfrm>
            <a:off x="4718304" y="4645152"/>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Extends to multi-phase and multi-junction coordination.</a:t>
            </a:r>
            <a:endParaRPr lang="en-US" sz="1100" dirty="0"/>
          </a:p>
        </p:txBody>
      </p:sp>
      <p:sp>
        <p:nvSpPr>
          <p:cNvPr id="29" name="Shape 22"/>
          <p:cNvSpPr/>
          <p:nvPr/>
        </p:nvSpPr>
        <p:spPr>
          <a:xfrm>
            <a:off x="8147304" y="3776472"/>
            <a:ext cx="3429000" cy="1691640"/>
          </a:xfrm>
          <a:prstGeom prst="roundRect">
            <a:avLst>
              <a:gd name="adj" fmla="val 5405"/>
            </a:avLst>
          </a:prstGeom>
          <a:solidFill>
            <a:srgbClr val="F4F6F8"/>
          </a:solidFill>
          <a:ln w="12700">
            <a:solidFill>
              <a:srgbClr val="E1E6EA"/>
            </a:solidFill>
            <a:prstDash val="solid"/>
          </a:ln>
        </p:spPr>
      </p:sp>
      <p:sp>
        <p:nvSpPr>
          <p:cNvPr id="30" name="Shape 23"/>
          <p:cNvSpPr/>
          <p:nvPr/>
        </p:nvSpPr>
        <p:spPr>
          <a:xfrm>
            <a:off x="8403336" y="4032504"/>
            <a:ext cx="566928" cy="566928"/>
          </a:xfrm>
          <a:prstGeom prst="ellipse">
            <a:avLst/>
          </a:prstGeom>
          <a:solidFill>
            <a:srgbClr val="415A77"/>
          </a:solidFill>
          <a:ln/>
        </p:spPr>
      </p:sp>
      <p:pic>
        <p:nvPicPr>
          <p:cNvPr id="31" name="Image 5" descr="/home/claude/icons/codeBranch.png"/>
          <p:cNvPicPr>
            <a:picLocks noChangeAspect="1"/>
          </p:cNvPicPr>
          <p:nvPr/>
        </p:nvPicPr>
        <p:blipFill>
          <a:blip r:embed="rId8"/>
          <a:stretch>
            <a:fillRect/>
          </a:stretch>
        </p:blipFill>
        <p:spPr>
          <a:xfrm>
            <a:off x="8530895" y="4160063"/>
            <a:ext cx="311810" cy="311810"/>
          </a:xfrm>
          <a:prstGeom prst="rect">
            <a:avLst/>
          </a:prstGeom>
        </p:spPr>
      </p:pic>
      <p:sp>
        <p:nvSpPr>
          <p:cNvPr id="32" name="Text 24"/>
          <p:cNvSpPr/>
          <p:nvPr/>
        </p:nvSpPr>
        <p:spPr>
          <a:xfrm>
            <a:off x="9134856" y="3977640"/>
            <a:ext cx="2240280" cy="457200"/>
          </a:xfrm>
          <a:prstGeom prst="rect">
            <a:avLst/>
          </a:prstGeom>
          <a:noFill/>
          <a:ln/>
        </p:spPr>
        <p:txBody>
          <a:bodyPr wrap="square" lIns="0" tIns="0" rIns="0" bIns="0" rtlCol="0" anchor="ctr"/>
          <a:lstStyle/>
          <a:p>
            <a:pPr marL="0" indent="0">
              <a:buNone/>
            </a:pPr>
            <a:r>
              <a:rPr lang="en-US" sz="1400" b="1" dirty="0">
                <a:solidFill>
                  <a:srgbClr val="1B2430"/>
                </a:solidFill>
                <a:latin typeface="Cambria" pitchFamily="34" charset="0"/>
                <a:ea typeface="Cambria" pitchFamily="34" charset="-122"/>
                <a:cs typeface="Cambria" pitchFamily="34" charset="-120"/>
              </a:rPr>
              <a:t>Safe by Construction</a:t>
            </a:r>
            <a:endParaRPr lang="en-US" sz="1400" dirty="0"/>
          </a:p>
        </p:txBody>
      </p:sp>
      <p:sp>
        <p:nvSpPr>
          <p:cNvPr id="33" name="Text 25"/>
          <p:cNvSpPr/>
          <p:nvPr/>
        </p:nvSpPr>
        <p:spPr>
          <a:xfrm>
            <a:off x="8403336" y="4645152"/>
            <a:ext cx="2916936" cy="731520"/>
          </a:xfrm>
          <a:prstGeom prst="rect">
            <a:avLst/>
          </a:prstGeom>
          <a:noFill/>
          <a:ln/>
        </p:spPr>
        <p:txBody>
          <a:bodyPr wrap="square" lIns="0" tIns="0" rIns="0" bIns="0" rtlCol="0" anchor="ctr"/>
          <a:lstStyle/>
          <a:p>
            <a:pPr marL="0" indent="0">
              <a:lnSpc>
                <a:spcPct val="125000"/>
              </a:lnSpc>
              <a:buNone/>
            </a:pPr>
            <a:r>
              <a:rPr lang="en-US" sz="1100" dirty="0">
                <a:solidFill>
                  <a:srgbClr val="6B7785"/>
                </a:solidFill>
                <a:latin typeface="Calibri" pitchFamily="34" charset="0"/>
                <a:ea typeface="Calibri" pitchFamily="34" charset="-122"/>
                <a:cs typeface="Calibri" pitchFamily="34" charset="-120"/>
              </a:rPr>
              <a:t>Guarded transitions make conflicting phases structurally impossible.</a:t>
            </a:r>
            <a:endParaRPr lang="en-US" sz="1100" dirty="0"/>
          </a:p>
        </p:txBody>
      </p:sp>
      <p:sp>
        <p:nvSpPr>
          <p:cNvPr id="34" name="Text 26"/>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06</a:t>
            </a:r>
            <a:endParaRPr lang="en-US" sz="1100" dirty="0"/>
          </a:p>
        </p:txBody>
      </p:sp>
    </p:spTree>
  </p:cSld>
  <p:clrMapOvr>
    <a:masterClrMapping/>
  </p:clrMapOvr>
  <p:transition spd="slow">
    <p:comb/>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5029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APPLICATIONS</a:t>
            </a:r>
            <a:endParaRPr lang="en-US" sz="1250" dirty="0"/>
          </a:p>
        </p:txBody>
      </p:sp>
      <p:sp>
        <p:nvSpPr>
          <p:cNvPr id="3" name="Text 1"/>
          <p:cNvSpPr/>
          <p:nvPr/>
        </p:nvSpPr>
        <p:spPr>
          <a:xfrm>
            <a:off x="777240" y="822960"/>
            <a:ext cx="9601200" cy="685800"/>
          </a:xfrm>
          <a:prstGeom prst="rect">
            <a:avLst/>
          </a:prstGeom>
          <a:noFill/>
          <a:ln/>
        </p:spPr>
        <p:txBody>
          <a:bodyPr wrap="square" lIns="0" tIns="0" rIns="0" bIns="0" rtlCol="0" anchor="ctr"/>
          <a:lstStyle/>
          <a:p>
            <a:pPr marL="0" indent="0">
              <a:buNone/>
            </a:pPr>
            <a:r>
              <a:rPr lang="en-US" sz="3000" b="1" dirty="0">
                <a:solidFill>
                  <a:srgbClr val="1B2430"/>
                </a:solidFill>
                <a:latin typeface="Cambria" pitchFamily="34" charset="0"/>
                <a:ea typeface="Cambria" pitchFamily="34" charset="-122"/>
                <a:cs typeface="Cambria" pitchFamily="34" charset="-120"/>
              </a:rPr>
              <a:t>What Are the Uses?</a:t>
            </a:r>
            <a:endParaRPr lang="en-US" sz="3000" dirty="0"/>
          </a:p>
        </p:txBody>
      </p:sp>
      <p:sp>
        <p:nvSpPr>
          <p:cNvPr id="4" name="Shape 2"/>
          <p:cNvSpPr/>
          <p:nvPr/>
        </p:nvSpPr>
        <p:spPr>
          <a:xfrm>
            <a:off x="777240" y="1783080"/>
            <a:ext cx="1993392" cy="3566160"/>
          </a:xfrm>
          <a:prstGeom prst="roundRect">
            <a:avLst>
              <a:gd name="adj" fmla="val 4587"/>
            </a:avLst>
          </a:prstGeom>
          <a:solidFill>
            <a:srgbClr val="0D1B2A"/>
          </a:solidFill>
          <a:ln/>
        </p:spPr>
      </p:sp>
      <p:sp>
        <p:nvSpPr>
          <p:cNvPr id="5" name="Shape 3"/>
          <p:cNvSpPr/>
          <p:nvPr/>
        </p:nvSpPr>
        <p:spPr>
          <a:xfrm>
            <a:off x="1385316" y="2103120"/>
            <a:ext cx="777240" cy="777240"/>
          </a:xfrm>
          <a:prstGeom prst="ellipse">
            <a:avLst/>
          </a:prstGeom>
          <a:solidFill>
            <a:srgbClr val="F4A300"/>
          </a:solidFill>
          <a:ln/>
        </p:spPr>
      </p:sp>
      <p:pic>
        <p:nvPicPr>
          <p:cNvPr id="6" name="Image 0" descr="/home/claude/icons/cityBuilding.png"/>
          <p:cNvPicPr>
            <a:picLocks noChangeAspect="1"/>
          </p:cNvPicPr>
          <p:nvPr/>
        </p:nvPicPr>
        <p:blipFill>
          <a:blip r:embed="rId3"/>
          <a:stretch>
            <a:fillRect/>
          </a:stretch>
        </p:blipFill>
        <p:spPr>
          <a:xfrm>
            <a:off x="1560195" y="2277999"/>
            <a:ext cx="427482" cy="427482"/>
          </a:xfrm>
          <a:prstGeom prst="rect">
            <a:avLst/>
          </a:prstGeom>
        </p:spPr>
      </p:pic>
      <p:sp>
        <p:nvSpPr>
          <p:cNvPr id="7" name="Text 4"/>
          <p:cNvSpPr/>
          <p:nvPr/>
        </p:nvSpPr>
        <p:spPr>
          <a:xfrm>
            <a:off x="914400"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FFFFFF"/>
                </a:solidFill>
                <a:latin typeface="Cambria" pitchFamily="34" charset="0"/>
                <a:ea typeface="Cambria" pitchFamily="34" charset="-122"/>
                <a:cs typeface="Cambria" pitchFamily="34" charset="-120"/>
              </a:rPr>
              <a:t>Smart-City Intersections</a:t>
            </a:r>
            <a:endParaRPr lang="en-US" sz="1300" dirty="0"/>
          </a:p>
        </p:txBody>
      </p:sp>
      <p:sp>
        <p:nvSpPr>
          <p:cNvPr id="8" name="Text 5"/>
          <p:cNvSpPr/>
          <p:nvPr/>
        </p:nvSpPr>
        <p:spPr>
          <a:xfrm>
            <a:off x="941832"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CADCFC"/>
                </a:solidFill>
                <a:latin typeface="Calibri" pitchFamily="34" charset="0"/>
                <a:ea typeface="Calibri" pitchFamily="34" charset="-122"/>
                <a:cs typeface="Calibri" pitchFamily="34" charset="-120"/>
              </a:rPr>
              <a:t>Core adaptive control for urban junction networks.</a:t>
            </a:r>
            <a:endParaRPr lang="en-US" sz="1050" dirty="0"/>
          </a:p>
        </p:txBody>
      </p:sp>
      <p:sp>
        <p:nvSpPr>
          <p:cNvPr id="9" name="Shape 6"/>
          <p:cNvSpPr/>
          <p:nvPr/>
        </p:nvSpPr>
        <p:spPr>
          <a:xfrm>
            <a:off x="2985516" y="1783080"/>
            <a:ext cx="1993392" cy="3566160"/>
          </a:xfrm>
          <a:prstGeom prst="roundRect">
            <a:avLst>
              <a:gd name="adj" fmla="val 4587"/>
            </a:avLst>
          </a:prstGeom>
          <a:solidFill>
            <a:srgbClr val="F4F6F8"/>
          </a:solidFill>
          <a:ln w="12700">
            <a:solidFill>
              <a:srgbClr val="E1E6EA"/>
            </a:solidFill>
            <a:prstDash val="solid"/>
          </a:ln>
        </p:spPr>
      </p:sp>
      <p:sp>
        <p:nvSpPr>
          <p:cNvPr id="10" name="Shape 7"/>
          <p:cNvSpPr/>
          <p:nvPr/>
        </p:nvSpPr>
        <p:spPr>
          <a:xfrm>
            <a:off x="3593592" y="2103120"/>
            <a:ext cx="777240" cy="777240"/>
          </a:xfrm>
          <a:prstGeom prst="ellipse">
            <a:avLst/>
          </a:prstGeom>
          <a:solidFill>
            <a:srgbClr val="415A77"/>
          </a:solidFill>
          <a:ln/>
        </p:spPr>
      </p:sp>
      <p:pic>
        <p:nvPicPr>
          <p:cNvPr id="11" name="Image 1" descr="/home/claude/icons/ambulance.png"/>
          <p:cNvPicPr>
            <a:picLocks noChangeAspect="1"/>
          </p:cNvPicPr>
          <p:nvPr/>
        </p:nvPicPr>
        <p:blipFill>
          <a:blip r:embed="rId4"/>
          <a:stretch>
            <a:fillRect/>
          </a:stretch>
        </p:blipFill>
        <p:spPr>
          <a:xfrm>
            <a:off x="3768471" y="2277999"/>
            <a:ext cx="427482" cy="427482"/>
          </a:xfrm>
          <a:prstGeom prst="rect">
            <a:avLst/>
          </a:prstGeom>
        </p:spPr>
      </p:pic>
      <p:sp>
        <p:nvSpPr>
          <p:cNvPr id="12" name="Text 8"/>
          <p:cNvSpPr/>
          <p:nvPr/>
        </p:nvSpPr>
        <p:spPr>
          <a:xfrm>
            <a:off x="3122676"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1B2430"/>
                </a:solidFill>
                <a:latin typeface="Cambria" pitchFamily="34" charset="0"/>
                <a:ea typeface="Cambria" pitchFamily="34" charset="-122"/>
                <a:cs typeface="Cambria" pitchFamily="34" charset="-120"/>
              </a:rPr>
              <a:t>Emergency Pre-emption</a:t>
            </a:r>
            <a:endParaRPr lang="en-US" sz="1300" dirty="0"/>
          </a:p>
        </p:txBody>
      </p:sp>
      <p:sp>
        <p:nvSpPr>
          <p:cNvPr id="13" name="Text 9"/>
          <p:cNvSpPr/>
          <p:nvPr/>
        </p:nvSpPr>
        <p:spPr>
          <a:xfrm>
            <a:off x="3150108"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6B7785"/>
                </a:solidFill>
                <a:latin typeface="Calibri" pitchFamily="34" charset="0"/>
                <a:ea typeface="Calibri" pitchFamily="34" charset="-122"/>
                <a:cs typeface="Calibri" pitchFamily="34" charset="-120"/>
              </a:rPr>
              <a:t>Priority routing and signal override for emergency vehicles.</a:t>
            </a:r>
            <a:endParaRPr lang="en-US" sz="1050" dirty="0"/>
          </a:p>
        </p:txBody>
      </p:sp>
      <p:sp>
        <p:nvSpPr>
          <p:cNvPr id="14" name="Shape 10"/>
          <p:cNvSpPr/>
          <p:nvPr/>
        </p:nvSpPr>
        <p:spPr>
          <a:xfrm>
            <a:off x="5193792" y="1783080"/>
            <a:ext cx="1993392" cy="3566160"/>
          </a:xfrm>
          <a:prstGeom prst="roundRect">
            <a:avLst>
              <a:gd name="adj" fmla="val 4587"/>
            </a:avLst>
          </a:prstGeom>
          <a:solidFill>
            <a:srgbClr val="0D1B2A"/>
          </a:solidFill>
          <a:ln/>
        </p:spPr>
      </p:sp>
      <p:sp>
        <p:nvSpPr>
          <p:cNvPr id="15" name="Shape 11"/>
          <p:cNvSpPr/>
          <p:nvPr/>
        </p:nvSpPr>
        <p:spPr>
          <a:xfrm>
            <a:off x="5801868" y="2103120"/>
            <a:ext cx="777240" cy="777240"/>
          </a:xfrm>
          <a:prstGeom prst="ellipse">
            <a:avLst/>
          </a:prstGeom>
          <a:solidFill>
            <a:srgbClr val="F4A300"/>
          </a:solidFill>
          <a:ln/>
        </p:spPr>
      </p:sp>
      <p:pic>
        <p:nvPicPr>
          <p:cNvPr id="16" name="Image 2" descr="/home/claude/icons/personWalking.png"/>
          <p:cNvPicPr>
            <a:picLocks noChangeAspect="1"/>
          </p:cNvPicPr>
          <p:nvPr/>
        </p:nvPicPr>
        <p:blipFill>
          <a:blip r:embed="rId5"/>
          <a:stretch>
            <a:fillRect/>
          </a:stretch>
        </p:blipFill>
        <p:spPr>
          <a:xfrm>
            <a:off x="5976747" y="2277999"/>
            <a:ext cx="427482" cy="427482"/>
          </a:xfrm>
          <a:prstGeom prst="rect">
            <a:avLst/>
          </a:prstGeom>
        </p:spPr>
      </p:pic>
      <p:sp>
        <p:nvSpPr>
          <p:cNvPr id="17" name="Text 12"/>
          <p:cNvSpPr/>
          <p:nvPr/>
        </p:nvSpPr>
        <p:spPr>
          <a:xfrm>
            <a:off x="5330952"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FFFFFF"/>
                </a:solidFill>
                <a:latin typeface="Cambria" pitchFamily="34" charset="0"/>
                <a:ea typeface="Cambria" pitchFamily="34" charset="-122"/>
                <a:cs typeface="Cambria" pitchFamily="34" charset="-120"/>
              </a:rPr>
              <a:t>Pedestrian Crossings</a:t>
            </a:r>
            <a:endParaRPr lang="en-US" sz="1300" dirty="0"/>
          </a:p>
        </p:txBody>
      </p:sp>
      <p:sp>
        <p:nvSpPr>
          <p:cNvPr id="18" name="Text 13"/>
          <p:cNvSpPr/>
          <p:nvPr/>
        </p:nvSpPr>
        <p:spPr>
          <a:xfrm>
            <a:off x="5358384"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CADCFC"/>
                </a:solidFill>
                <a:latin typeface="Calibri" pitchFamily="34" charset="0"/>
                <a:ea typeface="Calibri" pitchFamily="34" charset="-122"/>
                <a:cs typeface="Calibri" pitchFamily="34" charset="-120"/>
              </a:rPr>
              <a:t>Adaptive walk-phase timing integrated with vehicle states.</a:t>
            </a:r>
            <a:endParaRPr lang="en-US" sz="1050" dirty="0"/>
          </a:p>
        </p:txBody>
      </p:sp>
      <p:sp>
        <p:nvSpPr>
          <p:cNvPr id="19" name="Shape 14"/>
          <p:cNvSpPr/>
          <p:nvPr/>
        </p:nvSpPr>
        <p:spPr>
          <a:xfrm>
            <a:off x="7402068" y="1783080"/>
            <a:ext cx="1993392" cy="3566160"/>
          </a:xfrm>
          <a:prstGeom prst="roundRect">
            <a:avLst>
              <a:gd name="adj" fmla="val 4587"/>
            </a:avLst>
          </a:prstGeom>
          <a:solidFill>
            <a:srgbClr val="F4F6F8"/>
          </a:solidFill>
          <a:ln w="12700">
            <a:solidFill>
              <a:srgbClr val="E1E6EA"/>
            </a:solidFill>
            <a:prstDash val="solid"/>
          </a:ln>
        </p:spPr>
      </p:sp>
      <p:sp>
        <p:nvSpPr>
          <p:cNvPr id="20" name="Shape 15"/>
          <p:cNvSpPr/>
          <p:nvPr/>
        </p:nvSpPr>
        <p:spPr>
          <a:xfrm>
            <a:off x="8010144" y="2103120"/>
            <a:ext cx="777240" cy="777240"/>
          </a:xfrm>
          <a:prstGeom prst="ellipse">
            <a:avLst/>
          </a:prstGeom>
          <a:solidFill>
            <a:srgbClr val="415A77"/>
          </a:solidFill>
          <a:ln/>
        </p:spPr>
      </p:sp>
      <p:pic>
        <p:nvPicPr>
          <p:cNvPr id="21" name="Image 3" descr="/home/claude/icons/road.png"/>
          <p:cNvPicPr>
            <a:picLocks noChangeAspect="1"/>
          </p:cNvPicPr>
          <p:nvPr/>
        </p:nvPicPr>
        <p:blipFill>
          <a:blip r:embed="rId6"/>
          <a:stretch>
            <a:fillRect/>
          </a:stretch>
        </p:blipFill>
        <p:spPr>
          <a:xfrm>
            <a:off x="8185023" y="2277999"/>
            <a:ext cx="427482" cy="427482"/>
          </a:xfrm>
          <a:prstGeom prst="rect">
            <a:avLst/>
          </a:prstGeom>
        </p:spPr>
      </p:pic>
      <p:sp>
        <p:nvSpPr>
          <p:cNvPr id="22" name="Text 16"/>
          <p:cNvSpPr/>
          <p:nvPr/>
        </p:nvSpPr>
        <p:spPr>
          <a:xfrm>
            <a:off x="7539228"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1B2430"/>
                </a:solidFill>
                <a:latin typeface="Cambria" pitchFamily="34" charset="0"/>
                <a:ea typeface="Cambria" pitchFamily="34" charset="-122"/>
                <a:cs typeface="Cambria" pitchFamily="34" charset="-120"/>
              </a:rPr>
              <a:t>Green-Wave Corridors</a:t>
            </a:r>
            <a:endParaRPr lang="en-US" sz="1300" dirty="0"/>
          </a:p>
        </p:txBody>
      </p:sp>
      <p:sp>
        <p:nvSpPr>
          <p:cNvPr id="23" name="Text 17"/>
          <p:cNvSpPr/>
          <p:nvPr/>
        </p:nvSpPr>
        <p:spPr>
          <a:xfrm>
            <a:off x="7566660"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6B7785"/>
                </a:solidFill>
                <a:latin typeface="Calibri" pitchFamily="34" charset="0"/>
                <a:ea typeface="Calibri" pitchFamily="34" charset="-122"/>
                <a:cs typeface="Calibri" pitchFamily="34" charset="-120"/>
              </a:rPr>
              <a:t>Coordinated timing along arterial roads for smoother flow.</a:t>
            </a:r>
            <a:endParaRPr lang="en-US" sz="1050" dirty="0"/>
          </a:p>
        </p:txBody>
      </p:sp>
      <p:sp>
        <p:nvSpPr>
          <p:cNvPr id="24" name="Shape 18"/>
          <p:cNvSpPr/>
          <p:nvPr/>
        </p:nvSpPr>
        <p:spPr>
          <a:xfrm>
            <a:off x="9610344" y="1783080"/>
            <a:ext cx="1993392" cy="3566160"/>
          </a:xfrm>
          <a:prstGeom prst="roundRect">
            <a:avLst>
              <a:gd name="adj" fmla="val 4587"/>
            </a:avLst>
          </a:prstGeom>
          <a:solidFill>
            <a:srgbClr val="0D1B2A"/>
          </a:solidFill>
          <a:ln/>
        </p:spPr>
      </p:sp>
      <p:sp>
        <p:nvSpPr>
          <p:cNvPr id="25" name="Shape 19"/>
          <p:cNvSpPr/>
          <p:nvPr/>
        </p:nvSpPr>
        <p:spPr>
          <a:xfrm>
            <a:off x="10218420" y="2103120"/>
            <a:ext cx="777240" cy="777240"/>
          </a:xfrm>
          <a:prstGeom prst="ellipse">
            <a:avLst/>
          </a:prstGeom>
          <a:solidFill>
            <a:srgbClr val="F4A300"/>
          </a:solidFill>
          <a:ln/>
        </p:spPr>
      </p:sp>
      <p:pic>
        <p:nvPicPr>
          <p:cNvPr id="26" name="Image 4" descr="/home/claude/icons/flaskVial.png"/>
          <p:cNvPicPr>
            <a:picLocks noChangeAspect="1"/>
          </p:cNvPicPr>
          <p:nvPr/>
        </p:nvPicPr>
        <p:blipFill>
          <a:blip r:embed="rId7"/>
          <a:stretch>
            <a:fillRect/>
          </a:stretch>
        </p:blipFill>
        <p:spPr>
          <a:xfrm>
            <a:off x="10393299" y="2277999"/>
            <a:ext cx="427482" cy="427482"/>
          </a:xfrm>
          <a:prstGeom prst="rect">
            <a:avLst/>
          </a:prstGeom>
        </p:spPr>
      </p:pic>
      <p:sp>
        <p:nvSpPr>
          <p:cNvPr id="27" name="Text 20"/>
          <p:cNvSpPr/>
          <p:nvPr/>
        </p:nvSpPr>
        <p:spPr>
          <a:xfrm>
            <a:off x="9747504" y="3108960"/>
            <a:ext cx="1719072" cy="685800"/>
          </a:xfrm>
          <a:prstGeom prst="rect">
            <a:avLst/>
          </a:prstGeom>
          <a:noFill/>
          <a:ln/>
        </p:spPr>
        <p:txBody>
          <a:bodyPr wrap="square" lIns="0" tIns="0" rIns="0" bIns="0" rtlCol="0" anchor="ctr"/>
          <a:lstStyle/>
          <a:p>
            <a:pPr marL="0" indent="0" algn="ctr">
              <a:lnSpc>
                <a:spcPct val="110000"/>
              </a:lnSpc>
              <a:buNone/>
            </a:pPr>
            <a:r>
              <a:rPr lang="en-US" sz="1300" b="1" dirty="0">
                <a:solidFill>
                  <a:srgbClr val="FFFFFF"/>
                </a:solidFill>
                <a:latin typeface="Cambria" pitchFamily="34" charset="0"/>
                <a:ea typeface="Cambria" pitchFamily="34" charset="-122"/>
                <a:cs typeface="Cambria" pitchFamily="34" charset="-120"/>
              </a:rPr>
              <a:t>Research Testbed</a:t>
            </a:r>
            <a:endParaRPr lang="en-US" sz="1300" dirty="0"/>
          </a:p>
        </p:txBody>
      </p:sp>
      <p:sp>
        <p:nvSpPr>
          <p:cNvPr id="28" name="Text 21"/>
          <p:cNvSpPr/>
          <p:nvPr/>
        </p:nvSpPr>
        <p:spPr>
          <a:xfrm>
            <a:off x="9774936" y="3840480"/>
            <a:ext cx="1664208" cy="1371600"/>
          </a:xfrm>
          <a:prstGeom prst="rect">
            <a:avLst/>
          </a:prstGeom>
          <a:noFill/>
          <a:ln/>
        </p:spPr>
        <p:txBody>
          <a:bodyPr wrap="square" lIns="0" tIns="0" rIns="0" bIns="0" rtlCol="0" anchor="ctr"/>
          <a:lstStyle/>
          <a:p>
            <a:pPr marL="0" indent="0" algn="ctr">
              <a:lnSpc>
                <a:spcPct val="125000"/>
              </a:lnSpc>
              <a:buNone/>
            </a:pPr>
            <a:r>
              <a:rPr lang="en-US" sz="1050" dirty="0">
                <a:solidFill>
                  <a:srgbClr val="CADCFC"/>
                </a:solidFill>
                <a:latin typeface="Calibri" pitchFamily="34" charset="0"/>
                <a:ea typeface="Calibri" pitchFamily="34" charset="-122"/>
                <a:cs typeface="Calibri" pitchFamily="34" charset="-120"/>
              </a:rPr>
              <a:t>A structured baseline for reinforcement-learning traffic control.</a:t>
            </a:r>
            <a:endParaRPr lang="en-US" sz="1050" dirty="0"/>
          </a:p>
        </p:txBody>
      </p:sp>
      <p:sp>
        <p:nvSpPr>
          <p:cNvPr id="29" name="Text 22"/>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07</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7240" y="64008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CONCLUSION</a:t>
            </a:r>
            <a:endParaRPr lang="en-US" sz="1250" dirty="0"/>
          </a:p>
        </p:txBody>
      </p:sp>
      <p:sp>
        <p:nvSpPr>
          <p:cNvPr id="3" name="Text 1"/>
          <p:cNvSpPr/>
          <p:nvPr/>
        </p:nvSpPr>
        <p:spPr>
          <a:xfrm>
            <a:off x="777240" y="960120"/>
            <a:ext cx="9601200" cy="6858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Conclusion &amp; Future Scope</a:t>
            </a:r>
            <a:endParaRPr lang="en-US" sz="3000" dirty="0"/>
          </a:p>
        </p:txBody>
      </p:sp>
      <p:sp>
        <p:nvSpPr>
          <p:cNvPr id="4" name="Text 2"/>
          <p:cNvSpPr/>
          <p:nvPr/>
        </p:nvSpPr>
        <p:spPr>
          <a:xfrm>
            <a:off x="777240" y="1874520"/>
            <a:ext cx="6126480" cy="1737360"/>
          </a:xfrm>
          <a:prstGeom prst="rect">
            <a:avLst/>
          </a:prstGeom>
          <a:noFill/>
          <a:ln/>
        </p:spPr>
        <p:txBody>
          <a:bodyPr wrap="square" lIns="0" tIns="0" rIns="0" bIns="0" rtlCol="0" anchor="t"/>
          <a:lstStyle/>
          <a:p>
            <a:pPr marL="0" indent="0">
              <a:lnSpc>
                <a:spcPct val="135000"/>
              </a:lnSpc>
              <a:buNone/>
            </a:pPr>
            <a:r>
              <a:rPr lang="en-US" sz="1550" dirty="0">
                <a:solidFill>
                  <a:srgbClr val="CADCFC"/>
                </a:solidFill>
                <a:latin typeface="Calibri" pitchFamily="34" charset="0"/>
                <a:ea typeface="Calibri" pitchFamily="34" charset="-122"/>
                <a:cs typeface="Calibri" pitchFamily="34" charset="-120"/>
              </a:rPr>
              <a:t>An FSM-based intelligent controller gives adaptive traffic signal control a safe, verifiable structure — and simulation confirms meaningful delay reductions over fixed-time systems, without compromising the strict safety guarantees a junction demands.</a:t>
            </a:r>
            <a:endParaRPr lang="en-US" sz="1550" dirty="0"/>
          </a:p>
        </p:txBody>
      </p:sp>
      <p:sp>
        <p:nvSpPr>
          <p:cNvPr id="5" name="Shape 3"/>
          <p:cNvSpPr/>
          <p:nvPr/>
        </p:nvSpPr>
        <p:spPr>
          <a:xfrm>
            <a:off x="777240" y="3767328"/>
            <a:ext cx="91440" cy="91440"/>
          </a:xfrm>
          <a:prstGeom prst="ellipse">
            <a:avLst/>
          </a:prstGeom>
          <a:solidFill>
            <a:srgbClr val="F4A300"/>
          </a:solidFill>
          <a:ln/>
        </p:spPr>
      </p:sp>
      <p:sp>
        <p:nvSpPr>
          <p:cNvPr id="6" name="Text 4"/>
          <p:cNvSpPr/>
          <p:nvPr/>
        </p:nvSpPr>
        <p:spPr>
          <a:xfrm>
            <a:off x="1051560" y="3630168"/>
            <a:ext cx="5852160" cy="4114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Extend to a hierarchical FSM coordinating multiple adjacent junctions</a:t>
            </a:r>
            <a:endParaRPr lang="en-US" sz="1250" dirty="0"/>
          </a:p>
        </p:txBody>
      </p:sp>
      <p:sp>
        <p:nvSpPr>
          <p:cNvPr id="7" name="Shape 5"/>
          <p:cNvSpPr/>
          <p:nvPr/>
        </p:nvSpPr>
        <p:spPr>
          <a:xfrm>
            <a:off x="777240" y="4242816"/>
            <a:ext cx="91440" cy="91440"/>
          </a:xfrm>
          <a:prstGeom prst="ellipse">
            <a:avLst/>
          </a:prstGeom>
          <a:solidFill>
            <a:srgbClr val="F4A300"/>
          </a:solidFill>
          <a:ln/>
        </p:spPr>
      </p:sp>
      <p:sp>
        <p:nvSpPr>
          <p:cNvPr id="8" name="Text 6"/>
          <p:cNvSpPr/>
          <p:nvPr/>
        </p:nvSpPr>
        <p:spPr>
          <a:xfrm>
            <a:off x="1051560" y="4105656"/>
            <a:ext cx="5852160" cy="4114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Hybridise with reinforcement learning for continuous timing optimisation</a:t>
            </a:r>
            <a:endParaRPr lang="en-US" sz="1250" dirty="0"/>
          </a:p>
        </p:txBody>
      </p:sp>
      <p:sp>
        <p:nvSpPr>
          <p:cNvPr id="9" name="Shape 7"/>
          <p:cNvSpPr/>
          <p:nvPr/>
        </p:nvSpPr>
        <p:spPr>
          <a:xfrm>
            <a:off x="777240" y="4718304"/>
            <a:ext cx="91440" cy="91440"/>
          </a:xfrm>
          <a:prstGeom prst="ellipse">
            <a:avLst/>
          </a:prstGeom>
          <a:solidFill>
            <a:srgbClr val="F4A300"/>
          </a:solidFill>
          <a:ln/>
        </p:spPr>
      </p:sp>
      <p:sp>
        <p:nvSpPr>
          <p:cNvPr id="10" name="Text 8"/>
          <p:cNvSpPr/>
          <p:nvPr/>
        </p:nvSpPr>
        <p:spPr>
          <a:xfrm>
            <a:off x="1051560" y="4581144"/>
            <a:ext cx="5852160" cy="4114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Add V2I connectivity for vehicle-reported demand data</a:t>
            </a:r>
            <a:endParaRPr lang="en-US" sz="1250" dirty="0"/>
          </a:p>
        </p:txBody>
      </p:sp>
      <p:sp>
        <p:nvSpPr>
          <p:cNvPr id="11" name="Shape 9"/>
          <p:cNvSpPr/>
          <p:nvPr/>
        </p:nvSpPr>
        <p:spPr>
          <a:xfrm>
            <a:off x="777240" y="5193792"/>
            <a:ext cx="91440" cy="91440"/>
          </a:xfrm>
          <a:prstGeom prst="ellipse">
            <a:avLst/>
          </a:prstGeom>
          <a:solidFill>
            <a:srgbClr val="F4A300"/>
          </a:solidFill>
          <a:ln/>
        </p:spPr>
      </p:sp>
      <p:sp>
        <p:nvSpPr>
          <p:cNvPr id="12" name="Text 10"/>
          <p:cNvSpPr/>
          <p:nvPr/>
        </p:nvSpPr>
        <p:spPr>
          <a:xfrm>
            <a:off x="1051560" y="5056632"/>
            <a:ext cx="5852160" cy="41148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Prototype on an FPGA / embedded platform for field testing</a:t>
            </a:r>
            <a:endParaRPr lang="en-US" sz="1250" dirty="0"/>
          </a:p>
        </p:txBody>
      </p:sp>
      <p:sp>
        <p:nvSpPr>
          <p:cNvPr id="13" name="Shape 11"/>
          <p:cNvSpPr/>
          <p:nvPr/>
        </p:nvSpPr>
        <p:spPr>
          <a:xfrm>
            <a:off x="7360920" y="1828800"/>
            <a:ext cx="4023360" cy="4160520"/>
          </a:xfrm>
          <a:prstGeom prst="roundRect">
            <a:avLst>
              <a:gd name="adj" fmla="val 2727"/>
            </a:avLst>
          </a:prstGeom>
          <a:solidFill>
            <a:srgbClr val="13243A"/>
          </a:solidFill>
          <a:ln w="12700">
            <a:solidFill>
              <a:srgbClr val="27405C"/>
            </a:solidFill>
            <a:prstDash val="solid"/>
          </a:ln>
        </p:spPr>
      </p:sp>
      <p:sp>
        <p:nvSpPr>
          <p:cNvPr id="14" name="Text 12"/>
          <p:cNvSpPr/>
          <p:nvPr/>
        </p:nvSpPr>
        <p:spPr>
          <a:xfrm>
            <a:off x="7680960" y="2057400"/>
            <a:ext cx="3383280" cy="274320"/>
          </a:xfrm>
          <a:prstGeom prst="rect">
            <a:avLst/>
          </a:prstGeom>
          <a:noFill/>
          <a:ln/>
        </p:spPr>
        <p:txBody>
          <a:bodyPr wrap="square" lIns="0" tIns="0" rIns="0" bIns="0" rtlCol="0" anchor="ctr"/>
          <a:lstStyle/>
          <a:p>
            <a:pPr marL="0" indent="0">
              <a:buNone/>
            </a:pPr>
            <a:r>
              <a:rPr lang="en-US" sz="1100" b="1" kern="0" spc="200" dirty="0">
                <a:solidFill>
                  <a:srgbClr val="F4A300"/>
                </a:solidFill>
                <a:latin typeface="Calibri" pitchFamily="34" charset="0"/>
                <a:ea typeface="Calibri" pitchFamily="34" charset="-122"/>
                <a:cs typeface="Calibri" pitchFamily="34" charset="-120"/>
              </a:rPr>
              <a:t>PROJECT AT A GLANCE</a:t>
            </a:r>
            <a:endParaRPr lang="en-US" sz="1100" dirty="0"/>
          </a:p>
        </p:txBody>
      </p:sp>
      <p:sp>
        <p:nvSpPr>
          <p:cNvPr id="15" name="Text 13"/>
          <p:cNvSpPr/>
          <p:nvPr/>
        </p:nvSpPr>
        <p:spPr>
          <a:xfrm>
            <a:off x="7680960" y="2514600"/>
            <a:ext cx="1371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6</a:t>
            </a:r>
            <a:endParaRPr lang="en-US" sz="2800" dirty="0"/>
          </a:p>
        </p:txBody>
      </p:sp>
      <p:sp>
        <p:nvSpPr>
          <p:cNvPr id="16" name="Text 14"/>
          <p:cNvSpPr/>
          <p:nvPr/>
        </p:nvSpPr>
        <p:spPr>
          <a:xfrm>
            <a:off x="9052560" y="2514600"/>
            <a:ext cx="2103120" cy="64008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junction states modelled</a:t>
            </a:r>
            <a:endParaRPr lang="en-US" sz="1150" dirty="0"/>
          </a:p>
        </p:txBody>
      </p:sp>
      <p:sp>
        <p:nvSpPr>
          <p:cNvPr id="17" name="Text 15"/>
          <p:cNvSpPr/>
          <p:nvPr/>
        </p:nvSpPr>
        <p:spPr>
          <a:xfrm>
            <a:off x="7680960" y="3383280"/>
            <a:ext cx="1371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-41%</a:t>
            </a:r>
            <a:endParaRPr lang="en-US" sz="2800" dirty="0"/>
          </a:p>
        </p:txBody>
      </p:sp>
      <p:sp>
        <p:nvSpPr>
          <p:cNvPr id="18" name="Text 16"/>
          <p:cNvSpPr/>
          <p:nvPr/>
        </p:nvSpPr>
        <p:spPr>
          <a:xfrm>
            <a:off x="9052560" y="3383280"/>
            <a:ext cx="2103120" cy="64008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average delay reduction</a:t>
            </a:r>
            <a:endParaRPr lang="en-US" sz="1150" dirty="0"/>
          </a:p>
        </p:txBody>
      </p:sp>
      <p:sp>
        <p:nvSpPr>
          <p:cNvPr id="19" name="Text 17"/>
          <p:cNvSpPr/>
          <p:nvPr/>
        </p:nvSpPr>
        <p:spPr>
          <a:xfrm>
            <a:off x="7680960" y="4251960"/>
            <a:ext cx="1371600" cy="64008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0</a:t>
            </a:r>
            <a:endParaRPr lang="en-US" sz="2800" dirty="0"/>
          </a:p>
        </p:txBody>
      </p:sp>
      <p:sp>
        <p:nvSpPr>
          <p:cNvPr id="20" name="Text 18"/>
          <p:cNvSpPr/>
          <p:nvPr/>
        </p:nvSpPr>
        <p:spPr>
          <a:xfrm>
            <a:off x="9052560" y="4251960"/>
            <a:ext cx="2103120" cy="640080"/>
          </a:xfrm>
          <a:prstGeom prst="rect">
            <a:avLst/>
          </a:prstGeom>
          <a:noFill/>
          <a:ln/>
        </p:spPr>
        <p:txBody>
          <a:bodyPr wrap="square" lIns="0" tIns="0" rIns="0" bIns="0" rtlCol="0" anchor="ctr"/>
          <a:lstStyle/>
          <a:p>
            <a:pPr marL="0" indent="0">
              <a:lnSpc>
                <a:spcPct val="120000"/>
              </a:lnSpc>
              <a:buNone/>
            </a:pPr>
            <a:r>
              <a:rPr lang="en-US" sz="1150" dirty="0">
                <a:solidFill>
                  <a:srgbClr val="CADCFC"/>
                </a:solidFill>
                <a:latin typeface="Calibri" pitchFamily="34" charset="0"/>
                <a:ea typeface="Calibri" pitchFamily="34" charset="-122"/>
                <a:cs typeface="Calibri" pitchFamily="34" charset="-120"/>
              </a:rPr>
              <a:t>unsafe transitions</a:t>
            </a:r>
            <a:endParaRPr lang="en-US" sz="1150" dirty="0"/>
          </a:p>
        </p:txBody>
      </p:sp>
      <p:sp>
        <p:nvSpPr>
          <p:cNvPr id="21" name="Text 19"/>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08</a:t>
            </a:r>
            <a:endParaRPr lang="en-US" sz="11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025128" y="960120"/>
            <a:ext cx="1335024" cy="3017520"/>
          </a:xfrm>
          <a:prstGeom prst="roundRect">
            <a:avLst>
              <a:gd name="adj" fmla="val 27397"/>
            </a:avLst>
          </a:prstGeom>
          <a:solidFill>
            <a:srgbClr val="13243A"/>
          </a:solidFill>
          <a:ln w="12700">
            <a:solidFill>
              <a:srgbClr val="27405C"/>
            </a:solidFill>
            <a:prstDash val="solid"/>
          </a:ln>
        </p:spPr>
      </p:sp>
      <p:sp>
        <p:nvSpPr>
          <p:cNvPr id="3" name="Shape 1"/>
          <p:cNvSpPr/>
          <p:nvPr/>
        </p:nvSpPr>
        <p:spPr>
          <a:xfrm>
            <a:off x="9281160" y="960120"/>
            <a:ext cx="822960" cy="822960"/>
          </a:xfrm>
          <a:prstGeom prst="ellipse">
            <a:avLst/>
          </a:prstGeom>
          <a:solidFill>
            <a:srgbClr val="E15241"/>
          </a:solidFill>
          <a:ln/>
        </p:spPr>
      </p:sp>
      <p:sp>
        <p:nvSpPr>
          <p:cNvPr id="4" name="Shape 2"/>
          <p:cNvSpPr/>
          <p:nvPr/>
        </p:nvSpPr>
        <p:spPr>
          <a:xfrm>
            <a:off x="9281160" y="1920240"/>
            <a:ext cx="822960" cy="822960"/>
          </a:xfrm>
          <a:prstGeom prst="ellipse">
            <a:avLst/>
          </a:prstGeom>
          <a:solidFill>
            <a:srgbClr val="F4A300"/>
          </a:solidFill>
          <a:ln/>
        </p:spPr>
      </p:sp>
      <p:sp>
        <p:nvSpPr>
          <p:cNvPr id="5" name="Shape 3"/>
          <p:cNvSpPr/>
          <p:nvPr/>
        </p:nvSpPr>
        <p:spPr>
          <a:xfrm>
            <a:off x="9281160" y="2880360"/>
            <a:ext cx="822960" cy="822960"/>
          </a:xfrm>
          <a:prstGeom prst="ellipse">
            <a:avLst/>
          </a:prstGeom>
          <a:solidFill>
            <a:srgbClr val="2ECC71"/>
          </a:solidFill>
          <a:ln/>
        </p:spPr>
      </p:sp>
      <p:sp>
        <p:nvSpPr>
          <p:cNvPr id="6" name="Text 4"/>
          <p:cNvSpPr/>
          <p:nvPr/>
        </p:nvSpPr>
        <p:spPr>
          <a:xfrm>
            <a:off x="822960" y="2331720"/>
            <a:ext cx="5486400" cy="320040"/>
          </a:xfrm>
          <a:prstGeom prst="rect">
            <a:avLst/>
          </a:prstGeom>
          <a:noFill/>
          <a:ln/>
        </p:spPr>
        <p:txBody>
          <a:bodyPr wrap="square" lIns="0" tIns="0" rIns="0" bIns="0" rtlCol="0" anchor="ctr"/>
          <a:lstStyle/>
          <a:p>
            <a:pPr marL="0" indent="0" algn="l">
              <a:buNone/>
            </a:pPr>
            <a:r>
              <a:rPr lang="en-US" sz="1250" b="1" kern="0" spc="300" dirty="0">
                <a:solidFill>
                  <a:srgbClr val="F4A300"/>
                </a:solidFill>
                <a:latin typeface="Calibri" pitchFamily="34" charset="0"/>
                <a:ea typeface="Calibri" pitchFamily="34" charset="-122"/>
                <a:cs typeface="Calibri" pitchFamily="34" charset="-120"/>
              </a:rPr>
              <a:t>OPEN FLOOR</a:t>
            </a:r>
            <a:endParaRPr lang="en-US" sz="1250" dirty="0"/>
          </a:p>
        </p:txBody>
      </p:sp>
      <p:sp>
        <p:nvSpPr>
          <p:cNvPr id="7" name="Text 5"/>
          <p:cNvSpPr/>
          <p:nvPr/>
        </p:nvSpPr>
        <p:spPr>
          <a:xfrm>
            <a:off x="777240" y="2697480"/>
            <a:ext cx="7863840" cy="109728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Any Questions?</a:t>
            </a:r>
            <a:endParaRPr lang="en-US" sz="4200" dirty="0"/>
          </a:p>
        </p:txBody>
      </p:sp>
      <p:sp>
        <p:nvSpPr>
          <p:cNvPr id="8" name="Text 6"/>
          <p:cNvSpPr/>
          <p:nvPr/>
        </p:nvSpPr>
        <p:spPr>
          <a:xfrm>
            <a:off x="822960" y="3703320"/>
            <a:ext cx="6949440" cy="822960"/>
          </a:xfrm>
          <a:prstGeom prst="rect">
            <a:avLst/>
          </a:prstGeom>
          <a:noFill/>
          <a:ln/>
        </p:spPr>
        <p:txBody>
          <a:bodyPr wrap="square" lIns="0" tIns="0" rIns="0" bIns="0" rtlCol="0" anchor="ctr"/>
          <a:lstStyle/>
          <a:p>
            <a:pPr marL="0" indent="0">
              <a:lnSpc>
                <a:spcPct val="130000"/>
              </a:lnSpc>
              <a:buNone/>
            </a:pPr>
            <a:r>
              <a:rPr lang="en-US" sz="1500" i="1" dirty="0">
                <a:solidFill>
                  <a:srgbClr val="CADCFC"/>
                </a:solidFill>
                <a:latin typeface="Calibri" pitchFamily="34" charset="0"/>
                <a:ea typeface="Calibri" pitchFamily="34" charset="-122"/>
                <a:cs typeface="Calibri" pitchFamily="34" charset="-120"/>
              </a:rPr>
              <a:t>Happy to walk through the state design, the sensor-driven transition logic, or the simulation results in more detail.</a:t>
            </a:r>
            <a:endParaRPr lang="en-US" sz="1500" dirty="0"/>
          </a:p>
        </p:txBody>
      </p:sp>
      <p:sp>
        <p:nvSpPr>
          <p:cNvPr id="9" name="Shape 7"/>
          <p:cNvSpPr/>
          <p:nvPr/>
        </p:nvSpPr>
        <p:spPr>
          <a:xfrm>
            <a:off x="822960" y="4617720"/>
            <a:ext cx="1188720" cy="0"/>
          </a:xfrm>
          <a:prstGeom prst="line">
            <a:avLst/>
          </a:prstGeom>
          <a:noFill/>
          <a:ln w="31750">
            <a:solidFill>
              <a:srgbClr val="F4A300"/>
            </a:solidFill>
            <a:prstDash val="solid"/>
          </a:ln>
        </p:spPr>
      </p:sp>
      <p:sp>
        <p:nvSpPr>
          <p:cNvPr id="10" name="Text 8"/>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09</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2928" y="548640"/>
            <a:ext cx="1005840" cy="1005840"/>
          </a:xfrm>
          <a:prstGeom prst="ellipse">
            <a:avLst/>
          </a:prstGeom>
          <a:solidFill>
            <a:srgbClr val="E15241"/>
          </a:solidFill>
          <a:ln/>
        </p:spPr>
      </p:sp>
      <p:sp>
        <p:nvSpPr>
          <p:cNvPr id="3" name="Shape 1"/>
          <p:cNvSpPr/>
          <p:nvPr/>
        </p:nvSpPr>
        <p:spPr>
          <a:xfrm>
            <a:off x="5592928" y="1783080"/>
            <a:ext cx="1005840" cy="1005840"/>
          </a:xfrm>
          <a:prstGeom prst="ellipse">
            <a:avLst/>
          </a:prstGeom>
          <a:solidFill>
            <a:srgbClr val="F4A300"/>
          </a:solidFill>
          <a:ln/>
        </p:spPr>
      </p:sp>
      <p:sp>
        <p:nvSpPr>
          <p:cNvPr id="4" name="Shape 2"/>
          <p:cNvSpPr/>
          <p:nvPr/>
        </p:nvSpPr>
        <p:spPr>
          <a:xfrm>
            <a:off x="5592928" y="3017520"/>
            <a:ext cx="1005840" cy="1005840"/>
          </a:xfrm>
          <a:prstGeom prst="ellipse">
            <a:avLst/>
          </a:prstGeom>
          <a:solidFill>
            <a:srgbClr val="2ECC71"/>
          </a:solidFill>
          <a:ln/>
        </p:spPr>
      </p:sp>
      <p:sp>
        <p:nvSpPr>
          <p:cNvPr id="5" name="Text 3"/>
          <p:cNvSpPr/>
          <p:nvPr/>
        </p:nvSpPr>
        <p:spPr>
          <a:xfrm>
            <a:off x="0" y="3931920"/>
            <a:ext cx="12191695" cy="100584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4"/>
          <p:cNvSpPr/>
          <p:nvPr/>
        </p:nvSpPr>
        <p:spPr>
          <a:xfrm>
            <a:off x="1981048" y="4892040"/>
            <a:ext cx="8229600" cy="457200"/>
          </a:xfrm>
          <a:prstGeom prst="rect">
            <a:avLst/>
          </a:prstGeom>
          <a:noFill/>
          <a:ln/>
        </p:spPr>
        <p:txBody>
          <a:bodyPr wrap="square" lIns="0" tIns="0" rIns="0" bIns="0" rtlCol="0" anchor="ctr"/>
          <a:lstStyle/>
          <a:p>
            <a:pPr marL="0" indent="0" algn="ctr">
              <a:buNone/>
            </a:pPr>
            <a:r>
              <a:rPr lang="en-US" sz="1400" i="1" dirty="0">
                <a:solidFill>
                  <a:srgbClr val="9FB3C8"/>
                </a:solidFill>
                <a:latin typeface="Calibri" pitchFamily="34" charset="0"/>
                <a:ea typeface="Calibri" pitchFamily="34" charset="-122"/>
                <a:cs typeface="Calibri" pitchFamily="34" charset="-120"/>
              </a:rPr>
              <a:t>Design and Simulation of an Intelligent Traffic Signal Controller Using FSM</a:t>
            </a:r>
            <a:endParaRPr lang="en-US" sz="1400" dirty="0"/>
          </a:p>
        </p:txBody>
      </p:sp>
      <p:sp>
        <p:nvSpPr>
          <p:cNvPr id="7" name="Shape 5"/>
          <p:cNvSpPr/>
          <p:nvPr/>
        </p:nvSpPr>
        <p:spPr>
          <a:xfrm>
            <a:off x="5501488" y="5532120"/>
            <a:ext cx="1188720" cy="0"/>
          </a:xfrm>
          <a:prstGeom prst="line">
            <a:avLst/>
          </a:prstGeom>
          <a:noFill/>
          <a:ln w="31750">
            <a:solidFill>
              <a:srgbClr val="F4A300"/>
            </a:solidFill>
            <a:prstDash val="solid"/>
          </a:ln>
        </p:spPr>
      </p:sp>
      <p:sp>
        <p:nvSpPr>
          <p:cNvPr id="8" name="Text 6"/>
          <p:cNvSpPr/>
          <p:nvPr/>
        </p:nvSpPr>
        <p:spPr>
          <a:xfrm>
            <a:off x="11277295" y="6355080"/>
            <a:ext cx="640080" cy="320040"/>
          </a:xfrm>
          <a:prstGeom prst="rect">
            <a:avLst/>
          </a:prstGeom>
          <a:noFill/>
          <a:ln/>
        </p:spPr>
        <p:txBody>
          <a:bodyPr wrap="square" lIns="0" tIns="0" rIns="0" bIns="0" rtlCol="0" anchor="ctr"/>
          <a:lstStyle/>
          <a:p>
            <a:pPr marL="0" indent="0" algn="r">
              <a:buNone/>
            </a:pPr>
            <a:r>
              <a:rPr lang="en-US" sz="1100" dirty="0">
                <a:solidFill>
                  <a:srgbClr val="9FB3C8"/>
                </a:solidFill>
                <a:latin typeface="Calibri" pitchFamily="34" charset="0"/>
                <a:ea typeface="Calibri" pitchFamily="34" charset="-122"/>
                <a:cs typeface="Calibri" pitchFamily="34" charset="-120"/>
              </a:rPr>
              <a:t>10</a:t>
            </a:r>
            <a:endParaRPr lang="en-US" sz="11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TotalTime>
  <Words>820</Words>
  <Application>Microsoft Office PowerPoint</Application>
  <PresentationFormat>Widescreen</PresentationFormat>
  <Paragraphs>126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D.vishruth Goud</dc:creator>
  <cp:lastModifiedBy>D.vishruth Goud</cp:lastModifiedBy>
  <cp:revision>1</cp:revision>
  <dcterms:created xsi:type="dcterms:W3CDTF">2026-09-20T17:07:51Z</dcterms:created>
  <dcterms:modified xsi:type="dcterms:W3CDTF">2026-09-20T17:18:01Z</dcterms:modified>
</cp:coreProperties>
</file>